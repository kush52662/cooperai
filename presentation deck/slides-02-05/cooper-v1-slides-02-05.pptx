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b2b7d3b4264a01" /><Relationship Type="http://schemas.openxmlformats.org/officeDocument/2006/relationships/extended-properties" Target="/docProps/app.xml" Id="R9652eb7fda524caf" /><Relationship Type="http://schemas.openxmlformats.org/officeDocument/2006/relationships/officeDocument" Target="/ppt/presentation.xml" Id="Rfd1cbba9bc524e2f" /></Relationships>
</file>

<file path=ppt/presentation.xml><?xml version="1.0" encoding="utf-8"?>
<p:presentation xmlns:p="http://schemas.openxmlformats.org/presentationml/2006/main">
  <p:sldMasterIdLst>
    <p:sldMasterId xmlns:r="http://schemas.openxmlformats.org/officeDocument/2006/relationships" id="2147483648" r:id="Rdf2f3efcf3044f36"/>
  </p:sldMasterIdLst>
  <p:notesMasterIdLst>
    <p:notesMasterId xmlns:r="http://schemas.openxmlformats.org/officeDocument/2006/relationships" r:id="Rc16cc3e3d4864bb1"/>
  </p:notesMasterIdLst>
  <p:sldIdLst>
    <p:sldId xmlns:r="http://schemas.openxmlformats.org/officeDocument/2006/relationships" id="256" r:id="Rb46987974c2f4361"/>
    <p:sldId xmlns:r="http://schemas.openxmlformats.org/officeDocument/2006/relationships" id="257" r:id="Rb638ee21e6ff46ad"/>
    <p:sldId xmlns:r="http://schemas.openxmlformats.org/officeDocument/2006/relationships" id="258" r:id="R200369cc7f054173"/>
    <p:sldId xmlns:r="http://schemas.openxmlformats.org/officeDocument/2006/relationships" id="259" r:id="Re1cda6406fd64e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a4e4cc7a874bb7" /><Relationship Type="http://schemas.openxmlformats.org/officeDocument/2006/relationships/slideMaster" Target="/ppt/slideMasters/slideMaster1.xml" Id="Rdf2f3efcf3044f36" /><Relationship Type="http://schemas.openxmlformats.org/officeDocument/2006/relationships/notesMaster" Target="/ppt/notesMasters/notesMaster1.xml" Id="Rc16cc3e3d4864bb1" /><Relationship Type="http://schemas.openxmlformats.org/officeDocument/2006/relationships/presProps" Target="/ppt/presProps.xml" Id="R77ce666d726846bc" /><Relationship Type="http://schemas.openxmlformats.org/officeDocument/2006/relationships/tableStyles" Target="/ppt/tableStyles.xml" Id="Rdcdf527b1cdf4b50" /><Relationship Type="http://schemas.openxmlformats.org/officeDocument/2006/relationships/slide" Target="/ppt/slides/slide1.xml" Id="Rb46987974c2f4361" /><Relationship Type="http://schemas.openxmlformats.org/officeDocument/2006/relationships/slide" Target="/ppt/slides/slide2.xml" Id="Rb638ee21e6ff46ad" /><Relationship Type="http://schemas.openxmlformats.org/officeDocument/2006/relationships/slide" Target="/ppt/slides/slide3.xml" Id="R200369cc7f054173" /><Relationship Type="http://schemas.openxmlformats.org/officeDocument/2006/relationships/slide" Target="/ppt/slides/slide4.xml" Id="Re1cda6406fd64e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c23dd3a48340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b047b399fb41ac" /><Relationship Type="http://schemas.openxmlformats.org/officeDocument/2006/relationships/notesMaster" Target="/ppt/notesMasters/notesMaster1.xml" Id="R6777c3c72bc747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7c8d5107f24571" /><Relationship Type="http://schemas.openxmlformats.org/officeDocument/2006/relationships/notesMaster" Target="/ppt/notesMasters/notesMaster1.xml" Id="R43df6dac98ce45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c96cb185d74910" /><Relationship Type="http://schemas.openxmlformats.org/officeDocument/2006/relationships/notesMaster" Target="/ppt/notesMasters/notesMaster1.xml" Id="R8acd8c8c4a5a4a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21d9a57199499e" /><Relationship Type="http://schemas.openxmlformats.org/officeDocument/2006/relationships/notesMaster" Target="/ppt/notesMasters/notesMaster1.xml" Id="R2d881452708a4a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docs/account_profile.md; docs/CALL_BRIEF.md. All customer data is hypothetical. The volume is packages, not individual forms. Sources also include prior applications and producer notes. There is no implemented AMS360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Sterling Cooper Risk Advisors — Discovery Call Brief</a:t>
            </a:r>
          </a:p>
          <a:p xmlns:a="http://schemas.openxmlformats.org/drawingml/2006/main">
            <a:r>
              <a:t/>
            </a:r>
          </a:p>
          <a:p xmlns:a="http://schemas.openxmlformats.org/drawingml/2006/main">
            <a:r>
              <a:t>**Account reference:** [account_profile.md](account_profile.md). Sterling Cooper is a hypothetical mid-market commercial P&amp;C brokerage with 100 employees, 30 commercial-lines staff, five offices, and AMS360.</a:t>
            </a:r>
          </a:p>
          <a:p xmlns:a="http://schemas.openxmlformats.org/drawingml/2006/main">
            <a:r>
              <a:t/>
            </a:r>
          </a:p>
          <a:p xmlns:a="http://schemas.openxmlformats.org/drawingml/2006/main">
            <a:r>
              <a:t>**Evidence boundary:** The answers and operational numbers below are simulated build assumptions, not verified customer findings. The AMS360 answer describes an assumed customer workflow, not a general product limitation. Time savings are targets, not achieved results.</a:t>
            </a:r>
          </a:p>
          <a:p xmlns:a="http://schemas.openxmlformats.org/drawingml/2006/main">
            <a:r>
              <a:t/>
            </a:r>
          </a:p>
          <a:p xmlns:a="http://schemas.openxmlformats.org/drawingml/2006/main">
            <a:r>
              <a:t>## 1. Current state</a:t>
            </a:r>
          </a:p>
          <a:p xmlns:a="http://schemas.openxmlformats.org/drawingml/2006/main">
            <a:r>
              <a:t/>
            </a:r>
          </a:p>
          <a:p xmlns:a="http://schemas.openxmlformats.org/drawingml/2006/main">
            <a:r>
              <a:t>**1. “Which forms typically go into a submission package?”**  </a:t>
            </a:r>
          </a:p>
          <a:p xmlns:a="http://schemas.openxmlformats.org/drawingml/2006/main">
            <a:r>
              <a:t>**Assumed answer:** “Usually ACORD 125, 126 for general liability, and 140 for property, plus additional applications depending on the account. We repeat account information across several forms.”</a:t>
            </a:r>
          </a:p>
          <a:p xmlns:a="http://schemas.openxmlformats.org/drawingml/2006/main">
            <a:r>
              <a:t/>
            </a:r>
          </a:p>
          <a:p xmlns:a="http://schemas.openxmlformats.org/drawingml/2006/main">
            <a:r>
              <a:t>**2. “Where does the information come from, and what still needs manual work?”**  </a:t>
            </a:r>
          </a:p>
          <a:p xmlns:a="http://schemas.openxmlformats.org/drawingml/2006/main">
            <a:r>
              <a:t>**Assumed answer:** “We use AMS360 records, policy PDFs, prior applications, and producer notes. Information in those documents does not always make it into the structured record, so staff find and enter the remaining details manually.”</a:t>
            </a:r>
          </a:p>
          <a:p xmlns:a="http://schemas.openxmlformats.org/drawingml/2006/main">
            <a:r>
              <a:t/>
            </a:r>
          </a:p>
          <a:p xmlns:a="http://schemas.openxmlformats.org/drawingml/2006/main">
            <a:r>
              <a:t>**3. “How many submission packages does your team prepare in a typical week?”**  </a:t>
            </a:r>
          </a:p>
          <a:p xmlns:a="http://schemas.openxmlformats.org/drawingml/2006/main">
            <a:r>
              <a:t>**Assumed answer:** “Approximately 120–150 packages across our five offices. Each package contains multiple forms.”</a:t>
            </a:r>
          </a:p>
          <a:p xmlns:a="http://schemas.openxmlformats.org/drawingml/2006/main">
            <a:r>
              <a:t/>
            </a:r>
          </a:p>
          <a:p xmlns:a="http://schemas.openxmlformats.org/drawingml/2006/main">
            <a:r>
              <a:t>**Decision:** Build a form-filler agent for ACORD 125 first, accepting CSV exports and text-based policy PDFs. Other forms and input formats remain outside the initial scope. Count packages and individual forms separately.</a:t>
            </a:r>
          </a:p>
          <a:p xmlns:a="http://schemas.openxmlformats.org/drawingml/2006/main">
            <a:r>
              <a:t/>
            </a:r>
          </a:p>
          <a:p xmlns:a="http://schemas.openxmlformats.org/drawingml/2006/main">
            <a:r>
              <a:t>## 2. Problem and impact</a:t>
            </a:r>
          </a:p>
          <a:p xmlns:a="http://schemas.openxmlformats.org/drawingml/2006/main">
            <a:r>
              <a:t/>
            </a:r>
          </a:p>
          <a:p xmlns:a="http://schemas.openxmlformats.org/drawingml/2006/main">
            <a:r>
              <a:t>**4. “For the ACORD 125 alone, how much time goes into entering information before review?”**  </a:t>
            </a:r>
          </a:p>
          <a:p xmlns:a="http://schemas.openxmlformats.org/drawingml/2006/main">
            <a:r>
              <a:t>**Assumed answer:** “About 30 minutes per form, switching between account records and supporting documents.”</a:t>
            </a:r>
          </a:p>
          <a:p xmlns:a="http://schemas.openxmlformats.org/drawingml/2006/main">
            <a:r>
              <a:t/>
            </a:r>
          </a:p>
          <a:p xmlns:a="http://schemas.openxmlformats.org/drawingml/2006/main">
            <a:r>
              <a:t>**5. “What causes the most rework or delays?”**  </a:t>
            </a:r>
          </a:p>
          <a:p xmlns:a="http://schemas.openxmlformats.org/drawingml/2006/main">
            <a:r>
              <a:t>**Assumed answer:** “Different addresses, outdated business details, and missing answers. Staff reopen documents or contact the producer, and the package waits until someone resolves it.”</a:t>
            </a:r>
          </a:p>
          <a:p xmlns:a="http://schemas.openxmlformats.org/drawingml/2006/main">
            <a:r>
              <a:t/>
            </a:r>
          </a:p>
          <a:p xmlns:a="http://schemas.openxmlformats.org/drawingml/2006/main">
            <a:r>
              <a:t>**Decision:** Use 30 minutes per ACORD 125 as the assumed manual data-entry baseline. Measure review and correction time separately, and make missing or conflicting information visible rather than silently filling it.</a:t>
            </a:r>
          </a:p>
          <a:p xmlns:a="http://schemas.openxmlformats.org/drawingml/2006/main">
            <a:r>
              <a:t/>
            </a:r>
          </a:p>
          <a:p xmlns:a="http://schemas.openxmlformats.org/drawingml/2006/main">
            <a:r>
              <a:t>## 3. Future state and requirements</a:t>
            </a:r>
          </a:p>
          <a:p xmlns:a="http://schemas.openxmlformats.org/drawingml/2006/main">
            <a:r>
              <a:t/>
            </a:r>
          </a:p>
          <a:p xmlns:a="http://schemas.openxmlformats.org/drawingml/2006/main">
            <a:r>
              <a:t>**6. “What improvement would make this worthwhile for your team?”**  </a:t>
            </a:r>
          </a:p>
          <a:p xmlns:a="http://schemas.openxmlformats.org/drawingml/2006/main">
            <a:r>
              <a:t>**Assumed answer:** “If the ACORD 125 data entry took five minutes instead of 30, we could spend more time checking the application and progressing submissions.”</a:t>
            </a:r>
          </a:p>
          <a:p xmlns:a="http://schemas.openxmlformats.org/drawingml/2006/main">
            <a:r>
              <a:t/>
            </a:r>
          </a:p>
          <a:p xmlns:a="http://schemas.openxmlformats.org/drawingml/2006/main">
            <a:r>
              <a:t>**7. “How do you decide what to enter when documents disagree or an answer is missing?”**  </a:t>
            </a:r>
          </a:p>
          <a:p xmlns:a="http://schemas.openxmlformats.org/drawingml/2006/main">
            <a:r>
              <a:t>**Assumed answer:** “An account manager checks the documents and asks the producer or insured when necessary. We need to see where a value came from.”</a:t>
            </a:r>
          </a:p>
          <a:p xmlns:a="http://schemas.openxmlformats.org/drawingml/2006/main">
            <a:r>
              <a:t/>
            </a:r>
          </a:p>
          <a:p xmlns:a="http://schemas.openxmlformats.org/drawingml/2006/main">
            <a:r>
              <a:t>**8. “Who checks the completed application, and how is it handed off?”**  </a:t>
            </a:r>
          </a:p>
          <a:p xmlns:a="http://schemas.openxmlformats.org/drawingml/2006/main">
            <a:r>
              <a:t>**Assumed answer:** “An account manager reviews the PDF before it joins the submission package.”</a:t>
            </a:r>
          </a:p>
          <a:p xmlns:a="http://schemas.openxmlformats.org/drawingml/2006/main">
            <a:r>
              <a:t/>
            </a:r>
          </a:p>
          <a:p xmlns:a="http://schemas.openxmlformats.org/drawingml/2006/main">
            <a:r>
              <a:t>**Decision:** Target five minutes for automated data entry, with source references and unresolved fields flagged for human review. Export a filled ACORD 125 PDF; AMS updates, package assembly, and carrier submission remain manual.</a:t>
            </a:r>
          </a:p>
          <a:p xmlns:a="http://schemas.openxmlformats.org/drawingml/2006/main">
            <a:r>
              <a:t/>
            </a:r>
          </a:p>
          <a:p xmlns:a="http://schemas.openxmlformats.org/drawingml/2006/main">
            <a:r>
              <a:t>## 4. Decision and evaluation</a:t>
            </a:r>
          </a:p>
          <a:p xmlns:a="http://schemas.openxmlformats.org/drawingml/2006/main">
            <a:r>
              <a:t/>
            </a:r>
          </a:p>
          <a:p xmlns:a="http://schemas.openxmlformats.org/drawingml/2006/main">
            <a:r>
              <a:t>**9. “Who should test this before we consider a wider rollout?”**  </a:t>
            </a:r>
          </a:p>
          <a:p xmlns:a="http://schemas.openxmlformats.org/drawingml/2006/main">
            <a:r>
              <a:t>**Assumed answer:** “Two account managers or CSRs from one office, supported by our operations lead. IT needs to review data handling before we use customer files.”</a:t>
            </a:r>
          </a:p>
          <a:p xmlns:a="http://schemas.openxmlformats.org/drawingml/2006/main">
            <a:r>
              <a:t/>
            </a:r>
          </a:p>
          <a:p xmlns:a="http://schemas.openxmlformats.org/drawingml/2006/main">
            <a:r>
              <a:t>**10. “What would the trial need to demonstrate for you to continue?”**  </a:t>
            </a:r>
          </a:p>
          <a:p xmlns:a="http://schemas.openxmlformats.org/drawingml/2006/main">
            <a:r>
              <a:t>**Assumed answer:** “Show that it handles 20 representative test cases, averages five minutes or less for data entry, and does not create more correction work. Include incomplete and conflicting documents.”</a:t>
            </a:r>
          </a:p>
          <a:p xmlns:a="http://schemas.openxmlformats.org/drawingml/2006/main">
            <a:r>
              <a:t/>
            </a:r>
          </a:p>
          <a:p xmlns:a="http://schemas.openxmlformats.org/drawingml/2006/main">
            <a:r>
              <a:t>**Decision:** Evaluate 20 synthetic cases with two users from one office. Measure processing time, human review, corrections, and field accuracy separately. Validate the manual baseline and obtain approval for customer data before a live pilot.</a:t>
            </a:r>
          </a:p>
          <a:p xmlns:a="http://schemas.openxmlformats.org/drawingml/2006/main">
            <a:r>
              <a:t/>
            </a:r>
          </a:p>
          <a:p xmlns:a="http://schemas.openxmlformats.org/drawingml/2006/main">
            <a:r>
              <a:t>## Potential impact</a:t>
            </a:r>
          </a:p>
          <a:p xmlns:a="http://schemas.openxmlformats.org/drawingml/2006/main">
            <a:r>
              <a:t/>
            </a:r>
          </a:p>
          <a:p xmlns:a="http://schemas.openxmlformats.org/drawingml/2006/main">
            <a:r>
              <a:t>Reducing data entry from 30 to five minutes saves **25 minutes per eligible form—an 83.3% reduction in that step**. If all 120–150 weekly packages contain an eligible ACORD 125, the gross potential is **50–62.5 hours weekly before additional review**. Actual eligibility and changes in review effort determine the net benefit; this is not a measured result.</a:t>
            </a:r>
          </a:p>
          <a:p xmlns:a="http://schemas.openxmlformats.org/drawingml/2006/main">
            <a:r>
              <a:t/>
            </a:r>
          </a:p>
          <a:p xmlns:a="http://schemas.openxmlformats.org/drawingml/2006/main">
            <a:r>
              <a:t>## End-of-call brief — 100 words</a:t>
            </a:r>
          </a:p>
          <a:p xmlns:a="http://schemas.openxmlformats.org/drawingml/2006/main">
            <a:r>
              <a:t/>
            </a:r>
          </a:p>
          <a:p xmlns:a="http://schemas.openxmlformats.org/drawingml/2006/main">
            <a:r>
              <a:t>Sterling Cooper is assumed to prepare 120–150 submission packages weekly across five offices, commonly combining ACORD 125, 126, and 140. Staff gather information from AMS360, policy documents, prior applications, and producer notes, then manually complete missing details. Our MVP targets ACORD 125, using CSV exports and policy PDFs to produce a filled, reviewable form. We assume 30 minutes of manual entry and target five minutes before human review. Missing answers and conflicting values require attention. Two users will evaluate 20 synthetic cases, measuring processing time, review effort, and accuracy. Broader form support follows validation and approval for customer data use.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docs/CALL_BRIEF.md. 30 minus 5 = 25 minutes; 25/30 = 83.3%. Neither baseline nor target is validated. Gross weekly potential is 50–62.5 hours only if all 120–150 packages contain an eligible ACORD 125; omit this aggregate from the slide to avoid implying measured eligibility.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skills/acord-form-filler/SKILL.md; docs/IMPLEMENTATION_RESULTS.md. V1 is a portable skill plus Python tools. The active host AI interprets documents and selects fields. Python inspects, validates, fills, renders and verifies. Missing/uncertain fields stay blank. Local Codex execution has been tested; Claude-chat installation is not yet verified. No independent API or Streamlit product is represented here. The timebox is an assignment constraint, not a verified claim of elapsed development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011e9c32864b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78cf6219c84624" /><Relationship Type="http://schemas.openxmlformats.org/officeDocument/2006/relationships/slideLayout" Target="/ppt/slideLayouts/slideLayout1.xml" Id="R3689862357c849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89862357c849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2ff9e1d54a4619" /><Relationship Type="http://schemas.openxmlformats.org/officeDocument/2006/relationships/notesSlide" Target="/ppt/notesSlides/notesSlide1.xml" Id="Rfd9e78fe03714c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5a50f8965b46b1" /><Relationship Type="http://schemas.openxmlformats.org/officeDocument/2006/relationships/notesSlide" Target="/ppt/notesSlides/notesSlide2.xml" Id="R88c66eca08e547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5d66b476f445ba" /><Relationship Type="http://schemas.openxmlformats.org/officeDocument/2006/relationships/notesSlide" Target="/ppt/notesSlides/notesSlide3.xml" Id="Rd564664963764f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079d7b371e4ded" /><Relationship Type="http://schemas.openxmlformats.org/officeDocument/2006/relationships/notesSlide" Target="/ppt/notesSlides/notesSlide4.xml" Id="Ra001739eb2cb4af1" /></Relationships>
</file>

<file path=ppt/slides/slide1.xml><?xml version="1.0" encoding="utf-8"?>
<p:sld xmlns:p="http://schemas.openxmlformats.org/presentationml/2006/main">
  <p:cSld>
    <p:bg>
      <p:bgPr>
        <a:solidFill xmlns:a="http://schemas.openxmlformats.org/drawingml/2006/main">
          <a:srgbClr val="FFFC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F4A464E-D57C-45D8-AC94-2C8CC8255042}"/>
              </a:ext>
            </a:extLst>
          </p:cNvPr>
          <p:cNvSpPr>
            <a:spLocks xmlns:a="http://schemas.openxmlformats.org/drawingml/2006/main" noGrp="1"/>
          </p:cNvSpPr>
          <p:nvPr/>
        </p:nvSpPr>
        <p:spPr>
          <a:xfrm xmlns:a="http://schemas.openxmlformats.org/drawingml/2006/main">
            <a:off x="457200" y="266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5611"/>
                </a:solidFill>
                <a:latin typeface="Arial"/>
                <a:ea typeface="Arial"/>
                <a:cs typeface="Arial"/>
              </a:defRPr>
            </a:pPr>
            <a:r>
              <a:rPr sz="1125" b="1">
                <a:solidFill>
                  <a:srgbClr val="D95611"/>
                </a:solidFill>
                <a:latin typeface="Arial"/>
                <a:ea typeface="Arial"/>
                <a:cs typeface="Arial"/>
              </a:rPr>
              <a:t>CUSTOMER DISCOVERY</a:t>
            </a:r>
          </a:p>
        </p:txBody>
      </p:sp>
      <p:sp>
        <p:nvSpPr>
          <p:cNvPr id="2" name="">
            <a:extLst xmlns:a="http://schemas.openxmlformats.org/drawingml/2006/main">
              <a:ext uri="{FF2B5EF4-FFF2-40B4-BE49-F238E27FC236}">
                <a16:creationId xmlns:a16="http://schemas.microsoft.com/office/drawing/2014/main" id="{80DA11C0-D86C-4084-88ED-83A92D11FC50}"/>
              </a:ext>
            </a:extLst>
          </p:cNvPr>
          <p:cNvSpPr>
            <a:spLocks xmlns:a="http://schemas.openxmlformats.org/drawingml/2006/main" noGrp="1"/>
          </p:cNvSpPr>
          <p:nvPr/>
        </p:nvSpPr>
        <p:spPr>
          <a:xfrm xmlns:a="http://schemas.openxmlformats.org/drawingml/2006/main">
            <a:off x="11239500" y="266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E1A15"/>
                </a:solidFill>
                <a:latin typeface="Arial"/>
                <a:ea typeface="Arial"/>
                <a:cs typeface="Arial"/>
              </a:defRPr>
            </a:pPr>
            <a:r>
              <a:rPr sz="1200" b="0">
                <a:solidFill>
                  <a:srgbClr val="1E1A1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E670293-538B-443E-BD78-DD549D79F619}"/>
              </a:ext>
            </a:extLst>
          </p:cNvPr>
          <p:cNvSpPr>
            <a:spLocks xmlns:a="http://schemas.openxmlformats.org/drawingml/2006/main" noGrp="1"/>
          </p:cNvSpPr>
          <p:nvPr/>
        </p:nvSpPr>
        <p:spPr>
          <a:xfrm xmlns:a="http://schemas.openxmlformats.org/drawingml/2006/main">
            <a:off x="457200" y="723900"/>
            <a:ext cx="1123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1E1A15"/>
                </a:solidFill>
                <a:latin typeface="Georgia"/>
                <a:ea typeface="Georgia"/>
                <a:cs typeface="Georgia"/>
              </a:defRPr>
            </a:pPr>
            <a:r>
              <a:rPr sz="4275" b="0">
                <a:solidFill>
                  <a:srgbClr val="1E1A15"/>
                </a:solidFill>
                <a:latin typeface="Georgia"/>
                <a:ea typeface="Georgia"/>
                <a:cs typeface="Georgia"/>
              </a:rPr>
              <a:t>Account Context</a:t>
            </a:r>
          </a:p>
        </p:txBody>
      </p:sp>
      <p:sp>
        <p:nvSpPr>
          <p:cNvPr id="4" name="">
            <a:extLst xmlns:a="http://schemas.openxmlformats.org/drawingml/2006/main">
              <a:ext uri="{FF2B5EF4-FFF2-40B4-BE49-F238E27FC236}">
                <a16:creationId xmlns:a16="http://schemas.microsoft.com/office/drawing/2014/main" id="{4BEDC7BD-29CE-4DE7-9A12-9D37E2EF248C}"/>
              </a:ext>
            </a:extLst>
          </p:cNvPr>
          <p:cNvSpPr>
            <a:spLocks xmlns:a="http://schemas.openxmlformats.org/drawingml/2006/main" noGrp="1"/>
          </p:cNvSpPr>
          <p:nvPr/>
        </p:nvSpPr>
        <p:spPr>
          <a:xfrm xmlns:a="http://schemas.openxmlformats.org/drawingml/2006/main">
            <a:off x="457200" y="641985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E1A15"/>
                </a:solidFill>
                <a:latin typeface="Arial"/>
                <a:ea typeface="Arial"/>
                <a:cs typeface="Arial"/>
              </a:defRPr>
            </a:pPr>
            <a:r>
              <a:rPr sz="975" b="0">
                <a:solidFill>
                  <a:srgbClr val="1E1A15"/>
                </a:solidFill>
                <a:latin typeface="Arial"/>
                <a:ea typeface="Arial"/>
                <a:cs typeface="Arial"/>
              </a:rPr>
              <a:t>Source: account_profile.md and CALL_BRIEF.md. Hypothetical account and simulated operating assumptions.</a:t>
            </a:r>
          </a:p>
        </p:txBody>
      </p:sp>
      <p:sp>
        <p:nvSpPr>
          <p:cNvPr id="5" name="">
            <a:extLst xmlns:a="http://schemas.openxmlformats.org/drawingml/2006/main">
              <a:ext uri="{FF2B5EF4-FFF2-40B4-BE49-F238E27FC236}">
                <a16:creationId xmlns:a16="http://schemas.microsoft.com/office/drawing/2014/main" id="{988DC5FD-E4D8-4422-BB74-4BF2393480C4}"/>
              </a:ext>
            </a:extLst>
          </p:cNvPr>
          <p:cNvSpPr>
            <a:spLocks xmlns:a="http://schemas.openxmlformats.org/drawingml/2006/main" noGrp="1"/>
          </p:cNvSpPr>
          <p:nvPr/>
        </p:nvSpPr>
        <p:spPr>
          <a:xfrm xmlns:a="http://schemas.openxmlformats.org/drawingml/2006/main">
            <a:off x="457200" y="17240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E1A15"/>
                </a:solidFill>
                <a:latin typeface="Georgia"/>
                <a:ea typeface="Georgia"/>
                <a:cs typeface="Georgia"/>
              </a:defRPr>
            </a:pPr>
            <a:r>
              <a:rPr sz="2400" b="0">
                <a:solidFill>
                  <a:srgbClr val="1E1A15"/>
                </a:solidFill>
                <a:latin typeface="Georgia"/>
                <a:ea typeface="Georgia"/>
                <a:cs typeface="Georgia"/>
              </a:rPr>
              <a:t>Sterling Cooper Risk Advisors</a:t>
            </a:r>
          </a:p>
        </p:txBody>
      </p:sp>
      <p:sp>
        <p:nvSpPr>
          <p:cNvPr id="6" name="">
            <a:extLst xmlns:a="http://schemas.openxmlformats.org/drawingml/2006/main">
              <a:ext uri="{FF2B5EF4-FFF2-40B4-BE49-F238E27FC236}">
                <a16:creationId xmlns:a16="http://schemas.microsoft.com/office/drawing/2014/main" id="{AB540E89-91CB-4695-ACC5-B9E5357B1B5D}"/>
              </a:ext>
            </a:extLst>
          </p:cNvPr>
          <p:cNvSpPr>
            <a:spLocks xmlns:a="http://schemas.openxmlformats.org/drawingml/2006/main" noGrp="1"/>
          </p:cNvSpPr>
          <p:nvPr/>
        </p:nvSpPr>
        <p:spPr>
          <a:xfrm xmlns:a="http://schemas.openxmlformats.org/drawingml/2006/main">
            <a:off x="457200" y="22098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E1A15"/>
                </a:solidFill>
                <a:latin typeface="Arial"/>
                <a:ea typeface="Arial"/>
                <a:cs typeface="Arial"/>
              </a:defRPr>
            </a:pPr>
            <a:r>
              <a:rPr sz="1800" b="0">
                <a:solidFill>
                  <a:srgbClr val="1E1A15"/>
                </a:solidFill>
                <a:latin typeface="Arial"/>
                <a:ea typeface="Arial"/>
                <a:cs typeface="Arial"/>
              </a:rPr>
              <a:t>Independent mid-market commercial P&amp;C brokerage</a:t>
            </a:r>
          </a:p>
        </p:txBody>
      </p:sp>
      <p:sp>
        <p:nvSpPr>
          <p:cNvPr id="7" name="">
            <a:extLst xmlns:a="http://schemas.openxmlformats.org/drawingml/2006/main">
              <a:ext uri="{FF2B5EF4-FFF2-40B4-BE49-F238E27FC236}">
                <a16:creationId xmlns:a16="http://schemas.microsoft.com/office/drawing/2014/main" id="{5AE3452B-2F1F-425A-B4E7-8599EB4D76CF}"/>
              </a:ext>
            </a:extLst>
          </p:cNvPr>
          <p:cNvSpPr>
            <a:spLocks xmlns:a="http://schemas.openxmlformats.org/drawingml/2006/main" noGrp="1"/>
          </p:cNvSpPr>
          <p:nvPr/>
        </p:nvSpPr>
        <p:spPr>
          <a:xfrm xmlns:a="http://schemas.openxmlformats.org/drawingml/2006/main">
            <a:off x="457200" y="28765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E1A15"/>
                </a:solidFill>
                <a:latin typeface="Georgia"/>
                <a:ea typeface="Georgia"/>
                <a:cs typeface="Georgia"/>
              </a:defRPr>
            </a:pPr>
            <a:r>
              <a:rPr sz="3900" b="0">
                <a:solidFill>
                  <a:srgbClr val="1E1A15"/>
                </a:solidFill>
                <a:latin typeface="Georgia"/>
                <a:ea typeface="Georgia"/>
                <a:cs typeface="Georgia"/>
              </a:rPr>
              <a:t>100</a:t>
            </a:r>
          </a:p>
        </p:txBody>
      </p:sp>
      <p:sp>
        <p:nvSpPr>
          <p:cNvPr id="8" name="">
            <a:extLst xmlns:a="http://schemas.openxmlformats.org/drawingml/2006/main">
              <a:ext uri="{FF2B5EF4-FFF2-40B4-BE49-F238E27FC236}">
                <a16:creationId xmlns:a16="http://schemas.microsoft.com/office/drawing/2014/main" id="{C06949CC-4E3A-4088-AA0C-B0640473710A}"/>
              </a:ext>
            </a:extLst>
          </p:cNvPr>
          <p:cNvSpPr>
            <a:spLocks xmlns:a="http://schemas.openxmlformats.org/drawingml/2006/main" noGrp="1"/>
          </p:cNvSpPr>
          <p:nvPr/>
        </p:nvSpPr>
        <p:spPr>
          <a:xfrm xmlns:a="http://schemas.openxmlformats.org/drawingml/2006/main">
            <a:off x="457200" y="35623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E1A15"/>
                </a:solidFill>
                <a:latin typeface="Arial"/>
                <a:ea typeface="Arial"/>
                <a:cs typeface="Arial"/>
              </a:defRPr>
            </a:pPr>
            <a:r>
              <a:rPr sz="1575" b="0">
                <a:solidFill>
                  <a:srgbClr val="1E1A15"/>
                </a:solidFill>
                <a:latin typeface="Arial"/>
                <a:ea typeface="Arial"/>
                <a:cs typeface="Arial"/>
              </a:rPr>
              <a:t>Employees</a:t>
            </a:r>
          </a:p>
        </p:txBody>
      </p:sp>
      <p:sp>
        <p:nvSpPr>
          <p:cNvPr id="9" name="">
            <a:extLst xmlns:a="http://schemas.openxmlformats.org/drawingml/2006/main">
              <a:ext uri="{FF2B5EF4-FFF2-40B4-BE49-F238E27FC236}">
                <a16:creationId xmlns:a16="http://schemas.microsoft.com/office/drawing/2014/main" id="{3715C4F8-13ED-44DB-B373-4E84DEF4D53C}"/>
              </a:ext>
            </a:extLst>
          </p:cNvPr>
          <p:cNvSpPr>
            <a:spLocks xmlns:a="http://schemas.openxmlformats.org/drawingml/2006/main" noGrp="1"/>
          </p:cNvSpPr>
          <p:nvPr/>
        </p:nvSpPr>
        <p:spPr>
          <a:xfrm xmlns:a="http://schemas.openxmlformats.org/drawingml/2006/main">
            <a:off x="3305175" y="28765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E1A15"/>
                </a:solidFill>
                <a:latin typeface="Georgia"/>
                <a:ea typeface="Georgia"/>
                <a:cs typeface="Georgia"/>
              </a:defRPr>
            </a:pPr>
            <a:r>
              <a:rPr sz="3900" b="0">
                <a:solidFill>
                  <a:srgbClr val="1E1A15"/>
                </a:solidFill>
                <a:latin typeface="Georgia"/>
                <a:ea typeface="Georgia"/>
                <a:cs typeface="Georgia"/>
              </a:rPr>
              <a:t>30</a:t>
            </a:r>
          </a:p>
        </p:txBody>
      </p:sp>
      <p:sp>
        <p:nvSpPr>
          <p:cNvPr id="10" name="">
            <a:extLst xmlns:a="http://schemas.openxmlformats.org/drawingml/2006/main">
              <a:ext uri="{FF2B5EF4-FFF2-40B4-BE49-F238E27FC236}">
                <a16:creationId xmlns:a16="http://schemas.microsoft.com/office/drawing/2014/main" id="{A2D451D4-33D4-460E-805F-60048888FBEB}"/>
              </a:ext>
            </a:extLst>
          </p:cNvPr>
          <p:cNvSpPr>
            <a:spLocks xmlns:a="http://schemas.openxmlformats.org/drawingml/2006/main" noGrp="1"/>
          </p:cNvSpPr>
          <p:nvPr/>
        </p:nvSpPr>
        <p:spPr>
          <a:xfrm xmlns:a="http://schemas.openxmlformats.org/drawingml/2006/main">
            <a:off x="3305175" y="35623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E1A15"/>
                </a:solidFill>
                <a:latin typeface="Arial"/>
                <a:ea typeface="Arial"/>
                <a:cs typeface="Arial"/>
              </a:defRPr>
            </a:pPr>
            <a:r>
              <a:rPr sz="1575" b="0">
                <a:solidFill>
                  <a:srgbClr val="1E1A15"/>
                </a:solidFill>
                <a:latin typeface="Arial"/>
                <a:ea typeface="Arial"/>
                <a:cs typeface="Arial"/>
              </a:rPr>
              <a:t>Commercial-lines staff</a:t>
            </a:r>
          </a:p>
        </p:txBody>
      </p:sp>
      <p:sp>
        <p:nvSpPr>
          <p:cNvPr id="11" name="">
            <a:extLst xmlns:a="http://schemas.openxmlformats.org/drawingml/2006/main">
              <a:ext uri="{FF2B5EF4-FFF2-40B4-BE49-F238E27FC236}">
                <a16:creationId xmlns:a16="http://schemas.microsoft.com/office/drawing/2014/main" id="{43C80E81-074D-4070-8F13-08F502C91BF6}"/>
              </a:ext>
            </a:extLst>
          </p:cNvPr>
          <p:cNvSpPr>
            <a:spLocks xmlns:a="http://schemas.openxmlformats.org/drawingml/2006/main" noGrp="1"/>
          </p:cNvSpPr>
          <p:nvPr/>
        </p:nvSpPr>
        <p:spPr>
          <a:xfrm xmlns:a="http://schemas.openxmlformats.org/drawingml/2006/main">
            <a:off x="6153150" y="28765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E1A15"/>
                </a:solidFill>
                <a:latin typeface="Georgia"/>
                <a:ea typeface="Georgia"/>
                <a:cs typeface="Georgia"/>
              </a:defRPr>
            </a:pPr>
            <a:r>
              <a:rPr sz="3900" b="0">
                <a:solidFill>
                  <a:srgbClr val="1E1A15"/>
                </a:solidFill>
                <a:latin typeface="Georgia"/>
                <a:ea typeface="Georgia"/>
                <a:cs typeface="Georgia"/>
              </a:rPr>
              <a:t>5</a:t>
            </a:r>
          </a:p>
        </p:txBody>
      </p:sp>
      <p:sp>
        <p:nvSpPr>
          <p:cNvPr id="12" name="">
            <a:extLst xmlns:a="http://schemas.openxmlformats.org/drawingml/2006/main">
              <a:ext uri="{FF2B5EF4-FFF2-40B4-BE49-F238E27FC236}">
                <a16:creationId xmlns:a16="http://schemas.microsoft.com/office/drawing/2014/main" id="{8EA71FDD-FA85-43C0-9648-8A838CAF1F78}"/>
              </a:ext>
            </a:extLst>
          </p:cNvPr>
          <p:cNvSpPr>
            <a:spLocks xmlns:a="http://schemas.openxmlformats.org/drawingml/2006/main" noGrp="1"/>
          </p:cNvSpPr>
          <p:nvPr/>
        </p:nvSpPr>
        <p:spPr>
          <a:xfrm xmlns:a="http://schemas.openxmlformats.org/drawingml/2006/main">
            <a:off x="6153150" y="35623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E1A15"/>
                </a:solidFill>
                <a:latin typeface="Arial"/>
                <a:ea typeface="Arial"/>
                <a:cs typeface="Arial"/>
              </a:defRPr>
            </a:pPr>
            <a:r>
              <a:rPr sz="1575" b="0">
                <a:solidFill>
                  <a:srgbClr val="1E1A15"/>
                </a:solidFill>
                <a:latin typeface="Arial"/>
                <a:ea typeface="Arial"/>
                <a:cs typeface="Arial"/>
              </a:rPr>
              <a:t>Offices</a:t>
            </a:r>
          </a:p>
        </p:txBody>
      </p:sp>
      <p:sp>
        <p:nvSpPr>
          <p:cNvPr id="13" name="">
            <a:extLst xmlns:a="http://schemas.openxmlformats.org/drawingml/2006/main">
              <a:ext uri="{FF2B5EF4-FFF2-40B4-BE49-F238E27FC236}">
                <a16:creationId xmlns:a16="http://schemas.microsoft.com/office/drawing/2014/main" id="{633D1CF2-6CF4-49FB-AAF0-57EEFE4BE0FE}"/>
              </a:ext>
            </a:extLst>
          </p:cNvPr>
          <p:cNvSpPr>
            <a:spLocks xmlns:a="http://schemas.openxmlformats.org/drawingml/2006/main" noGrp="1"/>
          </p:cNvSpPr>
          <p:nvPr/>
        </p:nvSpPr>
        <p:spPr>
          <a:xfrm xmlns:a="http://schemas.openxmlformats.org/drawingml/2006/main">
            <a:off x="9001125" y="28765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E1A15"/>
                </a:solidFill>
                <a:latin typeface="Georgia"/>
                <a:ea typeface="Georgia"/>
                <a:cs typeface="Georgia"/>
              </a:defRPr>
            </a:pPr>
            <a:r>
              <a:rPr sz="3900" b="0">
                <a:solidFill>
                  <a:srgbClr val="1E1A15"/>
                </a:solidFill>
                <a:latin typeface="Georgia"/>
                <a:ea typeface="Georgia"/>
                <a:cs typeface="Georgia"/>
              </a:rPr>
              <a:t>AMS360</a:t>
            </a:r>
          </a:p>
        </p:txBody>
      </p:sp>
      <p:sp>
        <p:nvSpPr>
          <p:cNvPr id="14" name="">
            <a:extLst xmlns:a="http://schemas.openxmlformats.org/drawingml/2006/main">
              <a:ext uri="{FF2B5EF4-FFF2-40B4-BE49-F238E27FC236}">
                <a16:creationId xmlns:a16="http://schemas.microsoft.com/office/drawing/2014/main" id="{525E4DEC-513C-443B-8586-1FBBAAB58E4A}"/>
              </a:ext>
            </a:extLst>
          </p:cNvPr>
          <p:cNvSpPr>
            <a:spLocks xmlns:a="http://schemas.openxmlformats.org/drawingml/2006/main" noGrp="1"/>
          </p:cNvSpPr>
          <p:nvPr/>
        </p:nvSpPr>
        <p:spPr>
          <a:xfrm xmlns:a="http://schemas.openxmlformats.org/drawingml/2006/main">
            <a:off x="9001125" y="35623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E1A15"/>
                </a:solidFill>
                <a:latin typeface="Arial"/>
                <a:ea typeface="Arial"/>
                <a:cs typeface="Arial"/>
              </a:defRPr>
            </a:pPr>
            <a:r>
              <a:rPr sz="1575" b="0">
                <a:solidFill>
                  <a:srgbClr val="1E1A15"/>
                </a:solidFill>
                <a:latin typeface="Arial"/>
                <a:ea typeface="Arial"/>
                <a:cs typeface="Arial"/>
              </a:rPr>
              <a:t>Primary AMS</a:t>
            </a:r>
          </a:p>
        </p:txBody>
      </p:sp>
      <p:sp>
        <p:nvSpPr>
          <p:cNvPr id="15" name="">
            <a:extLst xmlns:a="http://schemas.openxmlformats.org/drawingml/2006/main">
              <a:ext uri="{FF2B5EF4-FFF2-40B4-BE49-F238E27FC236}">
                <a16:creationId xmlns:a16="http://schemas.microsoft.com/office/drawing/2014/main" id="{52707B5F-5E86-402F-88CC-C976396CC032}"/>
              </a:ext>
            </a:extLst>
          </p:cNvPr>
          <p:cNvSpPr>
            <a:spLocks xmlns:a="http://schemas.openxmlformats.org/drawingml/2006/main" noGrp="1"/>
          </p:cNvSpPr>
          <p:nvPr/>
        </p:nvSpPr>
        <p:spPr>
          <a:xfrm xmlns:a="http://schemas.openxmlformats.org/drawingml/2006/main">
            <a:off x="457200" y="429577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95611"/>
                </a:solidFill>
                <a:latin typeface="Arial"/>
                <a:ea typeface="Arial"/>
                <a:cs typeface="Arial"/>
              </a:defRPr>
            </a:pPr>
            <a:r>
              <a:rPr sz="1725" b="1">
                <a:solidFill>
                  <a:srgbClr val="D95611"/>
                </a:solidFill>
                <a:latin typeface="Arial"/>
                <a:ea typeface="Arial"/>
                <a:cs typeface="Arial"/>
              </a:rPr>
              <a:t>Current workflow</a:t>
            </a:r>
          </a:p>
        </p:txBody>
      </p:sp>
      <p:sp>
        <p:nvSpPr>
          <p:cNvPr id="16" name="">
            <a:extLst xmlns:a="http://schemas.openxmlformats.org/drawingml/2006/main">
              <a:ext uri="{FF2B5EF4-FFF2-40B4-BE49-F238E27FC236}">
                <a16:creationId xmlns:a16="http://schemas.microsoft.com/office/drawing/2014/main" id="{36BB5F0F-C596-464D-95DF-C0BA59E0B94D}"/>
              </a:ext>
            </a:extLst>
          </p:cNvPr>
          <p:cNvSpPr>
            <a:spLocks xmlns:a="http://schemas.openxmlformats.org/drawingml/2006/main" noGrp="1"/>
          </p:cNvSpPr>
          <p:nvPr/>
        </p:nvSpPr>
        <p:spPr>
          <a:xfrm xmlns:a="http://schemas.openxmlformats.org/drawingml/2006/main">
            <a:off x="457200" y="48387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Account records and policy documents</a:t>
            </a:r>
          </a:p>
        </p:txBody>
      </p:sp>
      <p:sp>
        <p:nvSpPr>
          <p:cNvPr id="17" name="">
            <a:extLst xmlns:a="http://schemas.openxmlformats.org/drawingml/2006/main">
              <a:ext uri="{FF2B5EF4-FFF2-40B4-BE49-F238E27FC236}">
                <a16:creationId xmlns:a16="http://schemas.microsoft.com/office/drawing/2014/main" id="{89E8FE16-FFE1-4ABD-9263-4984EED171DD}"/>
              </a:ext>
            </a:extLst>
          </p:cNvPr>
          <p:cNvSpPr>
            <a:spLocks xmlns:a="http://schemas.openxmlformats.org/drawingml/2006/main" noGrp="1"/>
          </p:cNvSpPr>
          <p:nvPr/>
        </p:nvSpPr>
        <p:spPr>
          <a:xfrm xmlns:a="http://schemas.openxmlformats.org/drawingml/2006/main">
            <a:off x="4476750" y="48387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Staff enter and reconcile details</a:t>
            </a:r>
          </a:p>
        </p:txBody>
      </p:sp>
      <p:sp>
        <p:nvSpPr>
          <p:cNvPr id="18" name="">
            <a:extLst xmlns:a="http://schemas.openxmlformats.org/drawingml/2006/main">
              <a:ext uri="{FF2B5EF4-FFF2-40B4-BE49-F238E27FC236}">
                <a16:creationId xmlns:a16="http://schemas.microsoft.com/office/drawing/2014/main" id="{8525FFF1-B3FA-4513-A50F-8D8CACD75752}"/>
              </a:ext>
            </a:extLst>
          </p:cNvPr>
          <p:cNvSpPr>
            <a:spLocks xmlns:a="http://schemas.openxmlformats.org/drawingml/2006/main" noGrp="1"/>
          </p:cNvSpPr>
          <p:nvPr/>
        </p:nvSpPr>
        <p:spPr>
          <a:xfrm xmlns:a="http://schemas.openxmlformats.org/drawingml/2006/main">
            <a:off x="8315325" y="48387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Account manager reviews the application</a:t>
            </a:r>
          </a:p>
        </p:txBody>
      </p:sp>
      <p:sp>
        <p:nvSpPr>
          <p:cNvPr id="19" name="">
            <a:extLst xmlns:a="http://schemas.openxmlformats.org/drawingml/2006/main">
              <a:ext uri="{FF2B5EF4-FFF2-40B4-BE49-F238E27FC236}">
                <a16:creationId xmlns:a16="http://schemas.microsoft.com/office/drawing/2014/main" id="{7A7D9C41-FBB7-4A5C-9716-CAC64877E802}"/>
              </a:ext>
            </a:extLst>
          </p:cNvPr>
          <p:cNvSpPr>
            <a:spLocks xmlns:a="http://schemas.openxmlformats.org/drawingml/2006/main" noGrp="1"/>
          </p:cNvSpPr>
          <p:nvPr/>
        </p:nvSpPr>
        <p:spPr>
          <a:xfrm xmlns:a="http://schemas.openxmlformats.org/drawingml/2006/main">
            <a:off x="457200" y="58388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Georgia"/>
                <a:ea typeface="Georgia"/>
                <a:cs typeface="Georgia"/>
              </a:defRPr>
            </a:pPr>
            <a:r>
              <a:rPr sz="1875" b="0">
                <a:solidFill>
                  <a:srgbClr val="1E1A15"/>
                </a:solidFill>
                <a:latin typeface="Georgia"/>
                <a:ea typeface="Georgia"/>
                <a:cs typeface="Georgia"/>
              </a:rPr>
              <a:t>Assumed volume: 120–150 multi-form submission packages each week</a:t>
            </a:r>
          </a:p>
        </p:txBody>
      </p:sp>
    </p:spTree>
    <p:extLst>
      <p:ext uri="{BB962C8B-B14F-4D97-AF65-F5344CB8AC3E}">
        <p14:creationId xmlns:p14="http://schemas.microsoft.com/office/powerpoint/2010/main" val="498658788"/>
      </p:ext>
    </p:extLst>
  </p:cSld>
</p:sld>
</file>

<file path=ppt/slides/slide2.xml><?xml version="1.0" encoding="utf-8"?>
<p:sld xmlns:p="http://schemas.openxmlformats.org/presentationml/2006/main">
  <p:cSld>
    <p:bg>
      <p:bgPr>
        <a:solidFill xmlns:a="http://schemas.openxmlformats.org/drawingml/2006/main">
          <a:srgbClr val="FFFC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4A56D89-C15D-4959-9EC0-B8EC7DFEC2DC}"/>
              </a:ext>
            </a:extLst>
          </p:cNvPr>
          <p:cNvSpPr>
            <a:spLocks xmlns:a="http://schemas.openxmlformats.org/drawingml/2006/main" noGrp="1"/>
          </p:cNvSpPr>
          <p:nvPr/>
        </p:nvSpPr>
        <p:spPr>
          <a:xfrm xmlns:a="http://schemas.openxmlformats.org/drawingml/2006/main">
            <a:off x="457200" y="266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5611"/>
                </a:solidFill>
                <a:latin typeface="Arial"/>
                <a:ea typeface="Arial"/>
                <a:cs typeface="Arial"/>
              </a:defRPr>
            </a:pPr>
            <a:r>
              <a:rPr sz="1125" b="1">
                <a:solidFill>
                  <a:srgbClr val="D95611"/>
                </a:solidFill>
                <a:latin typeface="Arial"/>
                <a:ea typeface="Arial"/>
                <a:cs typeface="Arial"/>
              </a:rPr>
              <a:t>DISCOVERY QUESTIONS AND ASSUMED ANSWERS</a:t>
            </a:r>
          </a:p>
        </p:txBody>
      </p:sp>
      <p:sp>
        <p:nvSpPr>
          <p:cNvPr id="2" name="">
            <a:extLst xmlns:a="http://schemas.openxmlformats.org/drawingml/2006/main">
              <a:ext uri="{FF2B5EF4-FFF2-40B4-BE49-F238E27FC236}">
                <a16:creationId xmlns:a16="http://schemas.microsoft.com/office/drawing/2014/main" id="{1AA1502B-742A-4B89-AE01-D3AF43D1A103}"/>
              </a:ext>
            </a:extLst>
          </p:cNvPr>
          <p:cNvSpPr>
            <a:spLocks xmlns:a="http://schemas.openxmlformats.org/drawingml/2006/main" noGrp="1"/>
          </p:cNvSpPr>
          <p:nvPr/>
        </p:nvSpPr>
        <p:spPr>
          <a:xfrm xmlns:a="http://schemas.openxmlformats.org/drawingml/2006/main">
            <a:off x="11239500" y="266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E1A15"/>
                </a:solidFill>
                <a:latin typeface="Arial"/>
                <a:ea typeface="Arial"/>
                <a:cs typeface="Arial"/>
              </a:defRPr>
            </a:pPr>
            <a:r>
              <a:rPr sz="1200" b="0">
                <a:solidFill>
                  <a:srgbClr val="1E1A1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9315C369-E42C-4D8E-8EB0-8C9F545B7C0B}"/>
              </a:ext>
            </a:extLst>
          </p:cNvPr>
          <p:cNvSpPr>
            <a:spLocks xmlns:a="http://schemas.openxmlformats.org/drawingml/2006/main" noGrp="1"/>
          </p:cNvSpPr>
          <p:nvPr/>
        </p:nvSpPr>
        <p:spPr>
          <a:xfrm xmlns:a="http://schemas.openxmlformats.org/drawingml/2006/main">
            <a:off x="457200" y="723900"/>
            <a:ext cx="1123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1E1A15"/>
                </a:solidFill>
                <a:latin typeface="Georgia"/>
                <a:ea typeface="Georgia"/>
                <a:cs typeface="Georgia"/>
              </a:defRPr>
            </a:pPr>
            <a:r>
              <a:rPr sz="4275" b="0">
                <a:solidFill>
                  <a:srgbClr val="1E1A15"/>
                </a:solidFill>
                <a:latin typeface="Georgia"/>
                <a:ea typeface="Georgia"/>
                <a:cs typeface="Georgia"/>
              </a:rPr>
              <a:t>Call Brief</a:t>
            </a:r>
          </a:p>
        </p:txBody>
      </p:sp>
      <p:sp>
        <p:nvSpPr>
          <p:cNvPr id="4" name="">
            <a:extLst xmlns:a="http://schemas.openxmlformats.org/drawingml/2006/main">
              <a:ext uri="{FF2B5EF4-FFF2-40B4-BE49-F238E27FC236}">
                <a16:creationId xmlns:a16="http://schemas.microsoft.com/office/drawing/2014/main" id="{0F9632E2-1DF2-4D13-A90F-CAAAE89979AA}"/>
              </a:ext>
            </a:extLst>
          </p:cNvPr>
          <p:cNvSpPr>
            <a:spLocks xmlns:a="http://schemas.openxmlformats.org/drawingml/2006/main" noGrp="1"/>
          </p:cNvSpPr>
          <p:nvPr/>
        </p:nvSpPr>
        <p:spPr>
          <a:xfrm xmlns:a="http://schemas.openxmlformats.org/drawingml/2006/main">
            <a:off x="457200" y="641985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E1A15"/>
                </a:solidFill>
                <a:latin typeface="Arial"/>
                <a:ea typeface="Arial"/>
                <a:cs typeface="Arial"/>
              </a:defRPr>
            </a:pPr>
            <a:r>
              <a:rPr sz="975" b="0">
                <a:solidFill>
                  <a:srgbClr val="1E1A15"/>
                </a:solidFill>
                <a:latin typeface="Arial"/>
                <a:ea typeface="Arial"/>
                <a:cs typeface="Arial"/>
              </a:rPr>
              <a:t>Source: CALL_BRIEF.md. All answers are simulated build assumptions, not verified customer findings.</a:t>
            </a:r>
          </a:p>
        </p:txBody>
      </p:sp>
      <p:sp>
        <p:nvSpPr>
          <p:cNvPr id="5" name="">
            <a:extLst xmlns:a="http://schemas.openxmlformats.org/drawingml/2006/main">
              <a:ext uri="{FF2B5EF4-FFF2-40B4-BE49-F238E27FC236}">
                <a16:creationId xmlns:a16="http://schemas.microsoft.com/office/drawing/2014/main" id="{5FD6D618-FA5A-4B65-A686-A555BA5703D1}"/>
              </a:ext>
            </a:extLst>
          </p:cNvPr>
          <p:cNvSpPr>
            <a:spLocks xmlns:a="http://schemas.openxmlformats.org/drawingml/2006/main" noGrp="1"/>
          </p:cNvSpPr>
          <p:nvPr/>
        </p:nvSpPr>
        <p:spPr>
          <a:xfrm xmlns:a="http://schemas.openxmlformats.org/drawingml/2006/main">
            <a:off x="457200" y="1590675"/>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5611"/>
                </a:solidFill>
                <a:latin typeface="Arial"/>
                <a:ea typeface="Arial"/>
                <a:cs typeface="Arial"/>
              </a:defRPr>
            </a:pPr>
            <a:r>
              <a:rPr sz="1575" b="1">
                <a:solidFill>
                  <a:srgbClr val="D95611"/>
                </a:solidFill>
                <a:latin typeface="Arial"/>
                <a:ea typeface="Arial"/>
                <a:cs typeface="Arial"/>
              </a:rPr>
              <a:t>01  Current state</a:t>
            </a:r>
          </a:p>
        </p:txBody>
      </p:sp>
      <p:sp>
        <p:nvSpPr>
          <p:cNvPr id="6" name="">
            <a:extLst xmlns:a="http://schemas.openxmlformats.org/drawingml/2006/main">
              <a:ext uri="{FF2B5EF4-FFF2-40B4-BE49-F238E27FC236}">
                <a16:creationId xmlns:a16="http://schemas.microsoft.com/office/drawing/2014/main" id="{C1A9188F-088F-4140-8C0C-B93BA2EE9543}"/>
              </a:ext>
            </a:extLst>
          </p:cNvPr>
          <p:cNvSpPr>
            <a:spLocks xmlns:a="http://schemas.openxmlformats.org/drawingml/2006/main" noGrp="1"/>
          </p:cNvSpPr>
          <p:nvPr/>
        </p:nvSpPr>
        <p:spPr>
          <a:xfrm xmlns:a="http://schemas.openxmlformats.org/drawingml/2006/main">
            <a:off x="457200" y="1952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1. Which forms go into a submission package?</a:t>
            </a:r>
          </a:p>
        </p:txBody>
      </p:sp>
      <p:sp>
        <p:nvSpPr>
          <p:cNvPr id="7" name="">
            <a:extLst xmlns:a="http://schemas.openxmlformats.org/drawingml/2006/main">
              <a:ext uri="{FF2B5EF4-FFF2-40B4-BE49-F238E27FC236}">
                <a16:creationId xmlns:a16="http://schemas.microsoft.com/office/drawing/2014/main" id="{4D90FDF8-4F2C-4609-A01A-5D3BD0367777}"/>
              </a:ext>
            </a:extLst>
          </p:cNvPr>
          <p:cNvSpPr>
            <a:spLocks xmlns:a="http://schemas.openxmlformats.org/drawingml/2006/main" noGrp="1"/>
          </p:cNvSpPr>
          <p:nvPr/>
        </p:nvSpPr>
        <p:spPr>
          <a:xfrm xmlns:a="http://schemas.openxmlformats.org/drawingml/2006/main">
            <a:off x="457200" y="23907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ACORD 125, 126 and 140, plus account-specific forms.</a:t>
            </a:r>
          </a:p>
        </p:txBody>
      </p:sp>
      <p:sp>
        <p:nvSpPr>
          <p:cNvPr id="8" name="">
            <a:extLst xmlns:a="http://schemas.openxmlformats.org/drawingml/2006/main">
              <a:ext uri="{FF2B5EF4-FFF2-40B4-BE49-F238E27FC236}">
                <a16:creationId xmlns:a16="http://schemas.microsoft.com/office/drawing/2014/main" id="{170A439B-2CD5-4C30-967C-6B4BFAA56E2B}"/>
              </a:ext>
            </a:extLst>
          </p:cNvPr>
          <p:cNvSpPr>
            <a:spLocks xmlns:a="http://schemas.openxmlformats.org/drawingml/2006/main" noGrp="1"/>
          </p:cNvSpPr>
          <p:nvPr/>
        </p:nvSpPr>
        <p:spPr>
          <a:xfrm xmlns:a="http://schemas.openxmlformats.org/drawingml/2006/main">
            <a:off x="457200" y="28670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2. Where does the data come from? What is manual?</a:t>
            </a:r>
          </a:p>
        </p:txBody>
      </p:sp>
      <p:sp>
        <p:nvSpPr>
          <p:cNvPr id="9" name="">
            <a:extLst xmlns:a="http://schemas.openxmlformats.org/drawingml/2006/main">
              <a:ext uri="{FF2B5EF4-FFF2-40B4-BE49-F238E27FC236}">
                <a16:creationId xmlns:a16="http://schemas.microsoft.com/office/drawing/2014/main" id="{5B9AC115-CDF8-4E68-9B72-7EBB1D1784DC}"/>
              </a:ext>
            </a:extLst>
          </p:cNvPr>
          <p:cNvSpPr>
            <a:spLocks xmlns:a="http://schemas.openxmlformats.org/drawingml/2006/main" noGrp="1"/>
          </p:cNvSpPr>
          <p:nvPr/>
        </p:nvSpPr>
        <p:spPr>
          <a:xfrm xmlns:a="http://schemas.openxmlformats.org/drawingml/2006/main">
            <a:off x="457200" y="33051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AMS360, PDFs and producer notes. Staff find and enter the remaining details.</a:t>
            </a:r>
          </a:p>
        </p:txBody>
      </p:sp>
      <p:sp>
        <p:nvSpPr>
          <p:cNvPr id="10" name="">
            <a:extLst xmlns:a="http://schemas.openxmlformats.org/drawingml/2006/main">
              <a:ext uri="{FF2B5EF4-FFF2-40B4-BE49-F238E27FC236}">
                <a16:creationId xmlns:a16="http://schemas.microsoft.com/office/drawing/2014/main" id="{28BC618B-1B1B-4469-8E55-869355A5B8CE}"/>
              </a:ext>
            </a:extLst>
          </p:cNvPr>
          <p:cNvSpPr>
            <a:spLocks xmlns:a="http://schemas.openxmlformats.org/drawingml/2006/main" noGrp="1"/>
          </p:cNvSpPr>
          <p:nvPr/>
        </p:nvSpPr>
        <p:spPr>
          <a:xfrm xmlns:a="http://schemas.openxmlformats.org/drawingml/2006/main">
            <a:off x="457200" y="37814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3. How many packages do you prepare each week?</a:t>
            </a:r>
          </a:p>
        </p:txBody>
      </p:sp>
      <p:sp>
        <p:nvSpPr>
          <p:cNvPr id="11" name="">
            <a:extLst xmlns:a="http://schemas.openxmlformats.org/drawingml/2006/main">
              <a:ext uri="{FF2B5EF4-FFF2-40B4-BE49-F238E27FC236}">
                <a16:creationId xmlns:a16="http://schemas.microsoft.com/office/drawing/2014/main" id="{BCEE7AE1-B349-48FA-A93E-3C8EDE932486}"/>
              </a:ext>
            </a:extLst>
          </p:cNvPr>
          <p:cNvSpPr>
            <a:spLocks xmlns:a="http://schemas.openxmlformats.org/drawingml/2006/main" noGrp="1"/>
          </p:cNvSpPr>
          <p:nvPr/>
        </p:nvSpPr>
        <p:spPr>
          <a:xfrm xmlns:a="http://schemas.openxmlformats.org/drawingml/2006/main">
            <a:off x="457200" y="42195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About 120–150 across five offices.</a:t>
            </a:r>
          </a:p>
        </p:txBody>
      </p:sp>
      <p:sp>
        <p:nvSpPr>
          <p:cNvPr id="12" name="">
            <a:extLst xmlns:a="http://schemas.openxmlformats.org/drawingml/2006/main">
              <a:ext uri="{FF2B5EF4-FFF2-40B4-BE49-F238E27FC236}">
                <a16:creationId xmlns:a16="http://schemas.microsoft.com/office/drawing/2014/main" id="{85778B2F-FF91-488C-8F22-8318D2770048}"/>
              </a:ext>
            </a:extLst>
          </p:cNvPr>
          <p:cNvSpPr>
            <a:spLocks xmlns:a="http://schemas.openxmlformats.org/drawingml/2006/main" noGrp="1"/>
          </p:cNvSpPr>
          <p:nvPr/>
        </p:nvSpPr>
        <p:spPr>
          <a:xfrm xmlns:a="http://schemas.openxmlformats.org/drawingml/2006/main">
            <a:off x="457200" y="4619625"/>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5611"/>
                </a:solidFill>
                <a:latin typeface="Arial"/>
                <a:ea typeface="Arial"/>
                <a:cs typeface="Arial"/>
              </a:defRPr>
            </a:pPr>
            <a:r>
              <a:rPr sz="1575" b="1">
                <a:solidFill>
                  <a:srgbClr val="D95611"/>
                </a:solidFill>
                <a:latin typeface="Arial"/>
                <a:ea typeface="Arial"/>
                <a:cs typeface="Arial"/>
              </a:rPr>
              <a:t>02  Problem and impact</a:t>
            </a:r>
          </a:p>
        </p:txBody>
      </p:sp>
      <p:sp>
        <p:nvSpPr>
          <p:cNvPr id="13" name="">
            <a:extLst xmlns:a="http://schemas.openxmlformats.org/drawingml/2006/main">
              <a:ext uri="{FF2B5EF4-FFF2-40B4-BE49-F238E27FC236}">
                <a16:creationId xmlns:a16="http://schemas.microsoft.com/office/drawing/2014/main" id="{91704D47-71D1-41AD-9B10-74B16E7638F7}"/>
              </a:ext>
            </a:extLst>
          </p:cNvPr>
          <p:cNvSpPr>
            <a:spLocks xmlns:a="http://schemas.openxmlformats.org/drawingml/2006/main" noGrp="1"/>
          </p:cNvSpPr>
          <p:nvPr/>
        </p:nvSpPr>
        <p:spPr>
          <a:xfrm xmlns:a="http://schemas.openxmlformats.org/drawingml/2006/main">
            <a:off x="457200" y="4972050"/>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4. How long does ACORD 125 entry take?</a:t>
            </a:r>
          </a:p>
        </p:txBody>
      </p:sp>
      <p:sp>
        <p:nvSpPr>
          <p:cNvPr id="14" name="">
            <a:extLst xmlns:a="http://schemas.openxmlformats.org/drawingml/2006/main">
              <a:ext uri="{FF2B5EF4-FFF2-40B4-BE49-F238E27FC236}">
                <a16:creationId xmlns:a16="http://schemas.microsoft.com/office/drawing/2014/main" id="{B6D46818-9A3C-400A-8B29-4F0F0FD650E4}"/>
              </a:ext>
            </a:extLst>
          </p:cNvPr>
          <p:cNvSpPr>
            <a:spLocks xmlns:a="http://schemas.openxmlformats.org/drawingml/2006/main" noGrp="1"/>
          </p:cNvSpPr>
          <p:nvPr/>
        </p:nvSpPr>
        <p:spPr>
          <a:xfrm xmlns:a="http://schemas.openxmlformats.org/drawingml/2006/main">
            <a:off x="457200" y="54102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About 30 minutes, before review.</a:t>
            </a:r>
          </a:p>
        </p:txBody>
      </p:sp>
      <p:sp>
        <p:nvSpPr>
          <p:cNvPr id="15" name="">
            <a:extLst xmlns:a="http://schemas.openxmlformats.org/drawingml/2006/main">
              <a:ext uri="{FF2B5EF4-FFF2-40B4-BE49-F238E27FC236}">
                <a16:creationId xmlns:a16="http://schemas.microsoft.com/office/drawing/2014/main" id="{02C5F0AC-EBDA-4DD6-87C6-51D3FDCB4BE8}"/>
              </a:ext>
            </a:extLst>
          </p:cNvPr>
          <p:cNvSpPr>
            <a:spLocks xmlns:a="http://schemas.openxmlformats.org/drawingml/2006/main" noGrp="1"/>
          </p:cNvSpPr>
          <p:nvPr/>
        </p:nvSpPr>
        <p:spPr>
          <a:xfrm xmlns:a="http://schemas.openxmlformats.org/drawingml/2006/main">
            <a:off x="457200" y="5829300"/>
            <a:ext cx="541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5. What causes rework or delays?</a:t>
            </a:r>
          </a:p>
        </p:txBody>
      </p:sp>
      <p:sp>
        <p:nvSpPr>
          <p:cNvPr id="16" name="">
            <a:extLst xmlns:a="http://schemas.openxmlformats.org/drawingml/2006/main">
              <a:ext uri="{FF2B5EF4-FFF2-40B4-BE49-F238E27FC236}">
                <a16:creationId xmlns:a16="http://schemas.microsoft.com/office/drawing/2014/main" id="{E52C45D5-BD11-4810-BA5E-70A328BC11D1}"/>
              </a:ext>
            </a:extLst>
          </p:cNvPr>
          <p:cNvSpPr>
            <a:spLocks xmlns:a="http://schemas.openxmlformats.org/drawingml/2006/main" noGrp="1"/>
          </p:cNvSpPr>
          <p:nvPr/>
        </p:nvSpPr>
        <p:spPr>
          <a:xfrm xmlns:a="http://schemas.openxmlformats.org/drawingml/2006/main">
            <a:off x="457200" y="6096000"/>
            <a:ext cx="541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E1A15"/>
                </a:solidFill>
                <a:latin typeface="Arial"/>
                <a:ea typeface="Arial"/>
                <a:cs typeface="Arial"/>
              </a:defRPr>
            </a:pPr>
            <a:r>
              <a:rPr sz="1425" b="0">
                <a:solidFill>
                  <a:srgbClr val="1E1A15"/>
                </a:solidFill>
                <a:latin typeface="Arial"/>
                <a:ea typeface="Arial"/>
                <a:cs typeface="Arial"/>
              </a:rPr>
              <a:t>Conflicting addresses, old details and missing answers.</a:t>
            </a:r>
          </a:p>
        </p:txBody>
      </p:sp>
      <p:sp>
        <p:nvSpPr>
          <p:cNvPr id="17" name="">
            <a:extLst xmlns:a="http://schemas.openxmlformats.org/drawingml/2006/main">
              <a:ext uri="{FF2B5EF4-FFF2-40B4-BE49-F238E27FC236}">
                <a16:creationId xmlns:a16="http://schemas.microsoft.com/office/drawing/2014/main" id="{7374A51F-4603-4E21-93FE-70FD4A7FC20A}"/>
              </a:ext>
            </a:extLst>
          </p:cNvPr>
          <p:cNvSpPr>
            <a:spLocks xmlns:a="http://schemas.openxmlformats.org/drawingml/2006/main" noGrp="1"/>
          </p:cNvSpPr>
          <p:nvPr/>
        </p:nvSpPr>
        <p:spPr>
          <a:xfrm xmlns:a="http://schemas.openxmlformats.org/drawingml/2006/main">
            <a:off x="6324600" y="1590675"/>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5611"/>
                </a:solidFill>
                <a:latin typeface="Arial"/>
                <a:ea typeface="Arial"/>
                <a:cs typeface="Arial"/>
              </a:defRPr>
            </a:pPr>
            <a:r>
              <a:rPr sz="1575" b="1">
                <a:solidFill>
                  <a:srgbClr val="D95611"/>
                </a:solidFill>
                <a:latin typeface="Arial"/>
                <a:ea typeface="Arial"/>
                <a:cs typeface="Arial"/>
              </a:rPr>
              <a:t>03  Future state and requirements</a:t>
            </a:r>
          </a:p>
        </p:txBody>
      </p:sp>
      <p:sp>
        <p:nvSpPr>
          <p:cNvPr id="18" name="">
            <a:extLst xmlns:a="http://schemas.openxmlformats.org/drawingml/2006/main">
              <a:ext uri="{FF2B5EF4-FFF2-40B4-BE49-F238E27FC236}">
                <a16:creationId xmlns:a16="http://schemas.microsoft.com/office/drawing/2014/main" id="{DFB4F563-0870-4602-A0DD-415268C36129}"/>
              </a:ext>
            </a:extLst>
          </p:cNvPr>
          <p:cNvSpPr>
            <a:spLocks xmlns:a="http://schemas.openxmlformats.org/drawingml/2006/main" noGrp="1"/>
          </p:cNvSpPr>
          <p:nvPr/>
        </p:nvSpPr>
        <p:spPr>
          <a:xfrm xmlns:a="http://schemas.openxmlformats.org/drawingml/2006/main">
            <a:off x="6324600" y="1952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6. What improvement would make this worthwhile?</a:t>
            </a:r>
          </a:p>
        </p:txBody>
      </p:sp>
      <p:sp>
        <p:nvSpPr>
          <p:cNvPr id="19" name="">
            <a:extLst xmlns:a="http://schemas.openxmlformats.org/drawingml/2006/main">
              <a:ext uri="{FF2B5EF4-FFF2-40B4-BE49-F238E27FC236}">
                <a16:creationId xmlns:a16="http://schemas.microsoft.com/office/drawing/2014/main" id="{AC43D066-7088-483A-A6EC-321BD15C1DEE}"/>
              </a:ext>
            </a:extLst>
          </p:cNvPr>
          <p:cNvSpPr>
            <a:spLocks xmlns:a="http://schemas.openxmlformats.org/drawingml/2006/main" noGrp="1"/>
          </p:cNvSpPr>
          <p:nvPr/>
        </p:nvSpPr>
        <p:spPr>
          <a:xfrm xmlns:a="http://schemas.openxmlformats.org/drawingml/2006/main">
            <a:off x="6324600" y="23907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Five-minute entry instead of 30, with time for review.</a:t>
            </a:r>
          </a:p>
        </p:txBody>
      </p:sp>
      <p:sp>
        <p:nvSpPr>
          <p:cNvPr id="20" name="">
            <a:extLst xmlns:a="http://schemas.openxmlformats.org/drawingml/2006/main">
              <a:ext uri="{FF2B5EF4-FFF2-40B4-BE49-F238E27FC236}">
                <a16:creationId xmlns:a16="http://schemas.microsoft.com/office/drawing/2014/main" id="{D5FEC2C7-F75C-4B58-B577-8FAF87ADE860}"/>
              </a:ext>
            </a:extLst>
          </p:cNvPr>
          <p:cNvSpPr>
            <a:spLocks xmlns:a="http://schemas.openxmlformats.org/drawingml/2006/main" noGrp="1"/>
          </p:cNvSpPr>
          <p:nvPr/>
        </p:nvSpPr>
        <p:spPr>
          <a:xfrm xmlns:a="http://schemas.openxmlformats.org/drawingml/2006/main">
            <a:off x="6324600" y="28670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7. How do you resolve gaps or disagreements?</a:t>
            </a:r>
          </a:p>
        </p:txBody>
      </p:sp>
      <p:sp>
        <p:nvSpPr>
          <p:cNvPr id="21" name="">
            <a:extLst xmlns:a="http://schemas.openxmlformats.org/drawingml/2006/main">
              <a:ext uri="{FF2B5EF4-FFF2-40B4-BE49-F238E27FC236}">
                <a16:creationId xmlns:a16="http://schemas.microsoft.com/office/drawing/2014/main" id="{A0D14D66-A35A-44A3-BB84-8693E453FD10}"/>
              </a:ext>
            </a:extLst>
          </p:cNvPr>
          <p:cNvSpPr>
            <a:spLocks xmlns:a="http://schemas.openxmlformats.org/drawingml/2006/main" noGrp="1"/>
          </p:cNvSpPr>
          <p:nvPr/>
        </p:nvSpPr>
        <p:spPr>
          <a:xfrm xmlns:a="http://schemas.openxmlformats.org/drawingml/2006/main">
            <a:off x="6324600" y="33051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An AM checks sources and asks the producer or insured. Source references matter.</a:t>
            </a:r>
          </a:p>
        </p:txBody>
      </p:sp>
      <p:sp>
        <p:nvSpPr>
          <p:cNvPr id="22" name="">
            <a:extLst xmlns:a="http://schemas.openxmlformats.org/drawingml/2006/main">
              <a:ext uri="{FF2B5EF4-FFF2-40B4-BE49-F238E27FC236}">
                <a16:creationId xmlns:a16="http://schemas.microsoft.com/office/drawing/2014/main" id="{CDB45738-6CC1-47FD-B8CA-4CE262CF9D5C}"/>
              </a:ext>
            </a:extLst>
          </p:cNvPr>
          <p:cNvSpPr>
            <a:spLocks xmlns:a="http://schemas.openxmlformats.org/drawingml/2006/main" noGrp="1"/>
          </p:cNvSpPr>
          <p:nvPr/>
        </p:nvSpPr>
        <p:spPr>
          <a:xfrm xmlns:a="http://schemas.openxmlformats.org/drawingml/2006/main">
            <a:off x="6324600" y="37814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8. Who reviews and hands off the application?</a:t>
            </a:r>
          </a:p>
        </p:txBody>
      </p:sp>
      <p:sp>
        <p:nvSpPr>
          <p:cNvPr id="23" name="">
            <a:extLst xmlns:a="http://schemas.openxmlformats.org/drawingml/2006/main">
              <a:ext uri="{FF2B5EF4-FFF2-40B4-BE49-F238E27FC236}">
                <a16:creationId xmlns:a16="http://schemas.microsoft.com/office/drawing/2014/main" id="{3AD7D679-CA80-42BE-8808-E37A4002C2C5}"/>
              </a:ext>
            </a:extLst>
          </p:cNvPr>
          <p:cNvSpPr>
            <a:spLocks xmlns:a="http://schemas.openxmlformats.org/drawingml/2006/main" noGrp="1"/>
          </p:cNvSpPr>
          <p:nvPr/>
        </p:nvSpPr>
        <p:spPr>
          <a:xfrm xmlns:a="http://schemas.openxmlformats.org/drawingml/2006/main">
            <a:off x="6324600" y="4219575"/>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An account manager checks the PDF before it joins the submission package.</a:t>
            </a:r>
          </a:p>
        </p:txBody>
      </p:sp>
      <p:sp>
        <p:nvSpPr>
          <p:cNvPr id="24" name="">
            <a:extLst xmlns:a="http://schemas.openxmlformats.org/drawingml/2006/main">
              <a:ext uri="{FF2B5EF4-FFF2-40B4-BE49-F238E27FC236}">
                <a16:creationId xmlns:a16="http://schemas.microsoft.com/office/drawing/2014/main" id="{75D12353-347B-46DF-A71E-02A46C0CF278}"/>
              </a:ext>
            </a:extLst>
          </p:cNvPr>
          <p:cNvSpPr>
            <a:spLocks xmlns:a="http://schemas.openxmlformats.org/drawingml/2006/main" noGrp="1"/>
          </p:cNvSpPr>
          <p:nvPr/>
        </p:nvSpPr>
        <p:spPr>
          <a:xfrm xmlns:a="http://schemas.openxmlformats.org/drawingml/2006/main">
            <a:off x="6324600" y="4619625"/>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D95611"/>
                </a:solidFill>
                <a:latin typeface="Arial"/>
                <a:ea typeface="Arial"/>
                <a:cs typeface="Arial"/>
              </a:defRPr>
            </a:pPr>
            <a:r>
              <a:rPr sz="1575" b="1">
                <a:solidFill>
                  <a:srgbClr val="D95611"/>
                </a:solidFill>
                <a:latin typeface="Arial"/>
                <a:ea typeface="Arial"/>
                <a:cs typeface="Arial"/>
              </a:rPr>
              <a:t>04  Decision and evaluation</a:t>
            </a:r>
          </a:p>
        </p:txBody>
      </p:sp>
      <p:sp>
        <p:nvSpPr>
          <p:cNvPr id="25" name="">
            <a:extLst xmlns:a="http://schemas.openxmlformats.org/drawingml/2006/main">
              <a:ext uri="{FF2B5EF4-FFF2-40B4-BE49-F238E27FC236}">
                <a16:creationId xmlns:a16="http://schemas.microsoft.com/office/drawing/2014/main" id="{38D971EB-D35C-4735-8086-A48F8ABE9F46}"/>
              </a:ext>
            </a:extLst>
          </p:cNvPr>
          <p:cNvSpPr>
            <a:spLocks xmlns:a="http://schemas.openxmlformats.org/drawingml/2006/main" noGrp="1"/>
          </p:cNvSpPr>
          <p:nvPr/>
        </p:nvSpPr>
        <p:spPr>
          <a:xfrm xmlns:a="http://schemas.openxmlformats.org/drawingml/2006/main">
            <a:off x="6324600" y="4972050"/>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9. Who should test this before wider rollout?</a:t>
            </a:r>
          </a:p>
        </p:txBody>
      </p:sp>
      <p:sp>
        <p:nvSpPr>
          <p:cNvPr id="26" name="">
            <a:extLst xmlns:a="http://schemas.openxmlformats.org/drawingml/2006/main">
              <a:ext uri="{FF2B5EF4-FFF2-40B4-BE49-F238E27FC236}">
                <a16:creationId xmlns:a16="http://schemas.microsoft.com/office/drawing/2014/main" id="{1EBD236F-477F-4EFA-9C96-E7D7436E00DD}"/>
              </a:ext>
            </a:extLst>
          </p:cNvPr>
          <p:cNvSpPr>
            <a:spLocks xmlns:a="http://schemas.openxmlformats.org/drawingml/2006/main" noGrp="1"/>
          </p:cNvSpPr>
          <p:nvPr/>
        </p:nvSpPr>
        <p:spPr>
          <a:xfrm xmlns:a="http://schemas.openxmlformats.org/drawingml/2006/main">
            <a:off x="6324600" y="5410200"/>
            <a:ext cx="5410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E1A15"/>
                </a:solidFill>
                <a:latin typeface="Arial"/>
                <a:ea typeface="Arial"/>
                <a:cs typeface="Arial"/>
              </a:defRPr>
            </a:pPr>
            <a:r>
              <a:rPr sz="1500" b="0">
                <a:solidFill>
                  <a:srgbClr val="1E1A15"/>
                </a:solidFill>
                <a:latin typeface="Arial"/>
                <a:ea typeface="Arial"/>
                <a:cs typeface="Arial"/>
              </a:rPr>
              <a:t>Two AMs/CSRs, operations and IT for data handling.</a:t>
            </a:r>
          </a:p>
        </p:txBody>
      </p:sp>
      <p:sp>
        <p:nvSpPr>
          <p:cNvPr id="27" name="">
            <a:extLst xmlns:a="http://schemas.openxmlformats.org/drawingml/2006/main">
              <a:ext uri="{FF2B5EF4-FFF2-40B4-BE49-F238E27FC236}">
                <a16:creationId xmlns:a16="http://schemas.microsoft.com/office/drawing/2014/main" id="{E893BE77-D454-405A-B210-6D147BC15899}"/>
              </a:ext>
            </a:extLst>
          </p:cNvPr>
          <p:cNvSpPr>
            <a:spLocks xmlns:a="http://schemas.openxmlformats.org/drawingml/2006/main" noGrp="1"/>
          </p:cNvSpPr>
          <p:nvPr/>
        </p:nvSpPr>
        <p:spPr>
          <a:xfrm xmlns:a="http://schemas.openxmlformats.org/drawingml/2006/main">
            <a:off x="6324600" y="5829300"/>
            <a:ext cx="541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E1A15"/>
                </a:solidFill>
                <a:latin typeface="Arial"/>
                <a:ea typeface="Arial"/>
                <a:cs typeface="Arial"/>
              </a:defRPr>
            </a:pPr>
            <a:r>
              <a:rPr sz="1575" b="1">
                <a:solidFill>
                  <a:srgbClr val="1E1A15"/>
                </a:solidFill>
                <a:latin typeface="Arial"/>
                <a:ea typeface="Arial"/>
                <a:cs typeface="Arial"/>
              </a:rPr>
              <a:t>10. What must a successful trial demonstrate?</a:t>
            </a:r>
          </a:p>
        </p:txBody>
      </p:sp>
      <p:sp>
        <p:nvSpPr>
          <p:cNvPr id="28" name="">
            <a:extLst xmlns:a="http://schemas.openxmlformats.org/drawingml/2006/main">
              <a:ext uri="{FF2B5EF4-FFF2-40B4-BE49-F238E27FC236}">
                <a16:creationId xmlns:a16="http://schemas.microsoft.com/office/drawing/2014/main" id="{EB3AF0DC-37BF-4622-9425-AC9C8B606797}"/>
              </a:ext>
            </a:extLst>
          </p:cNvPr>
          <p:cNvSpPr>
            <a:spLocks xmlns:a="http://schemas.openxmlformats.org/drawingml/2006/main" noGrp="1"/>
          </p:cNvSpPr>
          <p:nvPr/>
        </p:nvSpPr>
        <p:spPr>
          <a:xfrm xmlns:a="http://schemas.openxmlformats.org/drawingml/2006/main">
            <a:off x="6324600" y="6096000"/>
            <a:ext cx="541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E1A15"/>
                </a:solidFill>
                <a:latin typeface="Arial"/>
                <a:ea typeface="Arial"/>
                <a:cs typeface="Arial"/>
              </a:defRPr>
            </a:pPr>
            <a:r>
              <a:rPr sz="1425" b="0">
                <a:solidFill>
                  <a:srgbClr val="1E1A15"/>
                </a:solidFill>
                <a:latin typeface="Arial"/>
                <a:ea typeface="Arial"/>
                <a:cs typeface="Arial"/>
              </a:rPr>
              <a:t>20 cases, ≤5-minute entry, no extra correction work.</a:t>
            </a:r>
          </a:p>
        </p:txBody>
      </p:sp>
    </p:spTree>
    <p:extLst>
      <p:ext uri="{BB962C8B-B14F-4D97-AF65-F5344CB8AC3E}">
        <p14:creationId xmlns:p14="http://schemas.microsoft.com/office/powerpoint/2010/main" val="1326837433"/>
      </p:ext>
    </p:extLst>
  </p:cSld>
</p:sld>
</file>

<file path=ppt/slides/slide3.xml><?xml version="1.0" encoding="utf-8"?>
<p:sld xmlns:p="http://schemas.openxmlformats.org/presentationml/2006/main">
  <p:cSld>
    <p:bg>
      <p:bgPr>
        <a:solidFill xmlns:a="http://schemas.openxmlformats.org/drawingml/2006/main">
          <a:srgbClr val="FFFC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186B80B-A1F1-4AF2-A3CB-1CA4F2BA761F}"/>
              </a:ext>
            </a:extLst>
          </p:cNvPr>
          <p:cNvSpPr>
            <a:spLocks xmlns:a="http://schemas.openxmlformats.org/drawingml/2006/main" noGrp="1"/>
          </p:cNvSpPr>
          <p:nvPr/>
        </p:nvSpPr>
        <p:spPr>
          <a:xfrm xmlns:a="http://schemas.openxmlformats.org/drawingml/2006/main">
            <a:off x="457200" y="266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5611"/>
                </a:solidFill>
                <a:latin typeface="Arial"/>
                <a:ea typeface="Arial"/>
                <a:cs typeface="Arial"/>
              </a:defRPr>
            </a:pPr>
            <a:r>
              <a:rPr sz="1125" b="1">
                <a:solidFill>
                  <a:srgbClr val="D95611"/>
                </a:solidFill>
                <a:latin typeface="Arial"/>
                <a:ea typeface="Arial"/>
                <a:cs typeface="Arial"/>
              </a:rPr>
              <a:t>SCOPE RATIONALE</a:t>
            </a:r>
          </a:p>
        </p:txBody>
      </p:sp>
      <p:sp>
        <p:nvSpPr>
          <p:cNvPr id="2" name="">
            <a:extLst xmlns:a="http://schemas.openxmlformats.org/drawingml/2006/main">
              <a:ext uri="{FF2B5EF4-FFF2-40B4-BE49-F238E27FC236}">
                <a16:creationId xmlns:a16="http://schemas.microsoft.com/office/drawing/2014/main" id="{D6F00430-F06D-48C9-8120-288E819D7FB8}"/>
              </a:ext>
            </a:extLst>
          </p:cNvPr>
          <p:cNvSpPr>
            <a:spLocks xmlns:a="http://schemas.openxmlformats.org/drawingml/2006/main" noGrp="1"/>
          </p:cNvSpPr>
          <p:nvPr/>
        </p:nvSpPr>
        <p:spPr>
          <a:xfrm xmlns:a="http://schemas.openxmlformats.org/drawingml/2006/main">
            <a:off x="11239500" y="266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E1A15"/>
                </a:solidFill>
                <a:latin typeface="Arial"/>
                <a:ea typeface="Arial"/>
                <a:cs typeface="Arial"/>
              </a:defRPr>
            </a:pPr>
            <a:r>
              <a:rPr sz="1200" b="0">
                <a:solidFill>
                  <a:srgbClr val="1E1A1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53749AA-1371-48D6-8DCB-7BC8F18E1B8C}"/>
              </a:ext>
            </a:extLst>
          </p:cNvPr>
          <p:cNvSpPr>
            <a:spLocks xmlns:a="http://schemas.openxmlformats.org/drawingml/2006/main" noGrp="1"/>
          </p:cNvSpPr>
          <p:nvPr/>
        </p:nvSpPr>
        <p:spPr>
          <a:xfrm xmlns:a="http://schemas.openxmlformats.org/drawingml/2006/main">
            <a:off x="457200" y="723900"/>
            <a:ext cx="1123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1E1A15"/>
                </a:solidFill>
                <a:latin typeface="Georgia"/>
                <a:ea typeface="Georgia"/>
                <a:cs typeface="Georgia"/>
              </a:defRPr>
            </a:pPr>
            <a:r>
              <a:rPr sz="4275" b="0">
                <a:solidFill>
                  <a:srgbClr val="1E1A15"/>
                </a:solidFill>
                <a:latin typeface="Georgia"/>
                <a:ea typeface="Georgia"/>
                <a:cs typeface="Georgia"/>
              </a:rPr>
              <a:t>Problem – Opportunity – Wedge</a:t>
            </a:r>
          </a:p>
        </p:txBody>
      </p:sp>
      <p:sp>
        <p:nvSpPr>
          <p:cNvPr id="4" name="">
            <a:extLst xmlns:a="http://schemas.openxmlformats.org/drawingml/2006/main">
              <a:ext uri="{FF2B5EF4-FFF2-40B4-BE49-F238E27FC236}">
                <a16:creationId xmlns:a16="http://schemas.microsoft.com/office/drawing/2014/main" id="{1F78E025-F086-40A7-86D4-318F6AB98CEE}"/>
              </a:ext>
            </a:extLst>
          </p:cNvPr>
          <p:cNvSpPr>
            <a:spLocks xmlns:a="http://schemas.openxmlformats.org/drawingml/2006/main" noGrp="1"/>
          </p:cNvSpPr>
          <p:nvPr/>
        </p:nvSpPr>
        <p:spPr>
          <a:xfrm xmlns:a="http://schemas.openxmlformats.org/drawingml/2006/main">
            <a:off x="457200" y="641985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E1A15"/>
                </a:solidFill>
                <a:latin typeface="Arial"/>
                <a:ea typeface="Arial"/>
                <a:cs typeface="Arial"/>
              </a:defRPr>
            </a:pPr>
            <a:r>
              <a:rPr sz="975" b="0">
                <a:solidFill>
                  <a:srgbClr val="1E1A15"/>
                </a:solidFill>
                <a:latin typeface="Arial"/>
                <a:ea typeface="Arial"/>
                <a:cs typeface="Arial"/>
              </a:rPr>
              <a:t>Source: CALL_BRIEF.md. Baseline is assumed. Target and potential savings are unvalidated. Review time is separate.</a:t>
            </a:r>
          </a:p>
        </p:txBody>
      </p:sp>
      <p:sp>
        <p:nvSpPr>
          <p:cNvPr id="5" name="">
            <a:extLst xmlns:a="http://schemas.openxmlformats.org/drawingml/2006/main">
              <a:ext uri="{FF2B5EF4-FFF2-40B4-BE49-F238E27FC236}">
                <a16:creationId xmlns:a16="http://schemas.microsoft.com/office/drawing/2014/main" id="{2F130D55-CFA4-420B-AB04-9655B96F3A36}"/>
              </a:ext>
            </a:extLst>
          </p:cNvPr>
          <p:cNvSpPr>
            <a:spLocks xmlns:a="http://schemas.openxmlformats.org/drawingml/2006/main" noGrp="1"/>
          </p:cNvSpPr>
          <p:nvPr/>
        </p:nvSpPr>
        <p:spPr>
          <a:xfrm xmlns:a="http://schemas.openxmlformats.org/drawingml/2006/main">
            <a:off x="457200" y="182880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E1A15"/>
                </a:solidFill>
                <a:latin typeface="Georgia"/>
                <a:ea typeface="Georgia"/>
                <a:cs typeface="Georgia"/>
              </a:defRPr>
            </a:pPr>
            <a:r>
              <a:rPr sz="2325" b="0">
                <a:solidFill>
                  <a:srgbClr val="1E1A15"/>
                </a:solidFill>
                <a:latin typeface="Georgia"/>
                <a:ea typeface="Georgia"/>
                <a:cs typeface="Georgia"/>
              </a:rPr>
              <a:t>Problem</a:t>
            </a:r>
          </a:p>
        </p:txBody>
      </p:sp>
      <p:sp>
        <p:nvSpPr>
          <p:cNvPr id="6" name="">
            <a:extLst xmlns:a="http://schemas.openxmlformats.org/drawingml/2006/main">
              <a:ext uri="{FF2B5EF4-FFF2-40B4-BE49-F238E27FC236}">
                <a16:creationId xmlns:a16="http://schemas.microsoft.com/office/drawing/2014/main" id="{A6D9C1BE-F4F2-44A4-9983-9FA3E57682A6}"/>
              </a:ext>
            </a:extLst>
          </p:cNvPr>
          <p:cNvSpPr>
            <a:spLocks xmlns:a="http://schemas.openxmlformats.org/drawingml/2006/main" noGrp="1"/>
          </p:cNvSpPr>
          <p:nvPr/>
        </p:nvSpPr>
        <p:spPr>
          <a:xfrm xmlns:a="http://schemas.openxmlformats.org/drawingml/2006/main">
            <a:off x="4352925" y="182880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E1A15"/>
                </a:solidFill>
                <a:latin typeface="Georgia"/>
                <a:ea typeface="Georgia"/>
                <a:cs typeface="Georgia"/>
              </a:defRPr>
            </a:pPr>
            <a:r>
              <a:rPr sz="2325" b="0">
                <a:solidFill>
                  <a:srgbClr val="1E1A15"/>
                </a:solidFill>
                <a:latin typeface="Georgia"/>
                <a:ea typeface="Georgia"/>
                <a:cs typeface="Georgia"/>
              </a:rPr>
              <a:t>Opportunity</a:t>
            </a:r>
          </a:p>
        </p:txBody>
      </p:sp>
      <p:sp>
        <p:nvSpPr>
          <p:cNvPr id="7" name="">
            <a:extLst xmlns:a="http://schemas.openxmlformats.org/drawingml/2006/main">
              <a:ext uri="{FF2B5EF4-FFF2-40B4-BE49-F238E27FC236}">
                <a16:creationId xmlns:a16="http://schemas.microsoft.com/office/drawing/2014/main" id="{5C2C4183-BAF4-4104-AD21-BFFA454A9A0D}"/>
              </a:ext>
            </a:extLst>
          </p:cNvPr>
          <p:cNvSpPr>
            <a:spLocks xmlns:a="http://schemas.openxmlformats.org/drawingml/2006/main" noGrp="1"/>
          </p:cNvSpPr>
          <p:nvPr/>
        </p:nvSpPr>
        <p:spPr>
          <a:xfrm xmlns:a="http://schemas.openxmlformats.org/drawingml/2006/main">
            <a:off x="8248650" y="182880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E1A15"/>
                </a:solidFill>
                <a:latin typeface="Georgia"/>
                <a:ea typeface="Georgia"/>
                <a:cs typeface="Georgia"/>
              </a:defRPr>
            </a:pPr>
            <a:r>
              <a:rPr sz="2325" b="0">
                <a:solidFill>
                  <a:srgbClr val="1E1A15"/>
                </a:solidFill>
                <a:latin typeface="Georgia"/>
                <a:ea typeface="Georgia"/>
                <a:cs typeface="Georgia"/>
              </a:rPr>
              <a:t>Wedge</a:t>
            </a:r>
          </a:p>
        </p:txBody>
      </p:sp>
      <p:sp>
        <p:nvSpPr>
          <p:cNvPr id="8" name="">
            <a:extLst xmlns:a="http://schemas.openxmlformats.org/drawingml/2006/main">
              <a:ext uri="{FF2B5EF4-FFF2-40B4-BE49-F238E27FC236}">
                <a16:creationId xmlns:a16="http://schemas.microsoft.com/office/drawing/2014/main" id="{2BF4B688-0958-435D-A63B-F8CD6AC7227B}"/>
              </a:ext>
            </a:extLst>
          </p:cNvPr>
          <p:cNvSpPr>
            <a:spLocks xmlns:a="http://schemas.openxmlformats.org/drawingml/2006/main" noGrp="1"/>
          </p:cNvSpPr>
          <p:nvPr/>
        </p:nvSpPr>
        <p:spPr>
          <a:xfrm xmlns:a="http://schemas.openxmlformats.org/drawingml/2006/main">
            <a:off x="457200" y="2524125"/>
            <a:ext cx="3476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E1A15"/>
                </a:solidFill>
                <a:latin typeface="Arial"/>
                <a:ea typeface="Arial"/>
                <a:cs typeface="Arial"/>
              </a:defRPr>
            </a:pPr>
            <a:r>
              <a:rPr sz="2250" b="1">
                <a:solidFill>
                  <a:srgbClr val="1E1A15"/>
                </a:solidFill>
                <a:latin typeface="Arial"/>
                <a:ea typeface="Arial"/>
                <a:cs typeface="Arial"/>
              </a:rPr>
              <a:t>Repeated entry</a:t>
            </a:r>
          </a:p>
        </p:txBody>
      </p:sp>
      <p:sp>
        <p:nvSpPr>
          <p:cNvPr id="9" name="">
            <a:extLst xmlns:a="http://schemas.openxmlformats.org/drawingml/2006/main">
              <a:ext uri="{FF2B5EF4-FFF2-40B4-BE49-F238E27FC236}">
                <a16:creationId xmlns:a16="http://schemas.microsoft.com/office/drawing/2014/main" id="{570626BC-DEAF-4D1B-848A-092032A14521}"/>
              </a:ext>
            </a:extLst>
          </p:cNvPr>
          <p:cNvSpPr>
            <a:spLocks xmlns:a="http://schemas.openxmlformats.org/drawingml/2006/main" noGrp="1"/>
          </p:cNvSpPr>
          <p:nvPr/>
        </p:nvSpPr>
        <p:spPr>
          <a:xfrm xmlns:a="http://schemas.openxmlformats.org/drawingml/2006/main">
            <a:off x="457200" y="3133725"/>
            <a:ext cx="33147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E1A15"/>
                </a:solidFill>
                <a:latin typeface="Arial"/>
                <a:ea typeface="Arial"/>
                <a:cs typeface="Arial"/>
              </a:defRPr>
            </a:pPr>
            <a:r>
              <a:rPr sz="2025" b="0">
                <a:solidFill>
                  <a:srgbClr val="1E1A15"/>
                </a:solidFill>
                <a:latin typeface="Arial"/>
                <a:ea typeface="Arial"/>
                <a:cs typeface="Arial"/>
              </a:rPr>
              <a:t>Account details sit across records and documents. Staff re-key information and resolve discrepancies.</a:t>
            </a:r>
          </a:p>
        </p:txBody>
      </p:sp>
      <p:sp>
        <p:nvSpPr>
          <p:cNvPr id="10" name="">
            <a:extLst xmlns:a="http://schemas.openxmlformats.org/drawingml/2006/main">
              <a:ext uri="{FF2B5EF4-FFF2-40B4-BE49-F238E27FC236}">
                <a16:creationId xmlns:a16="http://schemas.microsoft.com/office/drawing/2014/main" id="{0C6B05F9-7C13-473D-946C-976CA7A11FDA}"/>
              </a:ext>
            </a:extLst>
          </p:cNvPr>
          <p:cNvSpPr>
            <a:spLocks xmlns:a="http://schemas.openxmlformats.org/drawingml/2006/main" noGrp="1"/>
          </p:cNvSpPr>
          <p:nvPr/>
        </p:nvSpPr>
        <p:spPr>
          <a:xfrm xmlns:a="http://schemas.openxmlformats.org/drawingml/2006/main">
            <a:off x="4352925" y="25241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D95611"/>
                </a:solidFill>
                <a:latin typeface="Georgia"/>
                <a:ea typeface="Georgia"/>
                <a:cs typeface="Georgia"/>
              </a:defRPr>
            </a:pPr>
            <a:r>
              <a:rPr sz="3150" b="0">
                <a:solidFill>
                  <a:srgbClr val="D95611"/>
                </a:solidFill>
                <a:latin typeface="Georgia"/>
                <a:ea typeface="Georgia"/>
                <a:cs typeface="Georgia"/>
              </a:rPr>
              <a:t>30 min → 5 min</a:t>
            </a:r>
          </a:p>
        </p:txBody>
      </p:sp>
      <p:sp>
        <p:nvSpPr>
          <p:cNvPr id="11" name="">
            <a:extLst xmlns:a="http://schemas.openxmlformats.org/drawingml/2006/main">
              <a:ext uri="{FF2B5EF4-FFF2-40B4-BE49-F238E27FC236}">
                <a16:creationId xmlns:a16="http://schemas.microsoft.com/office/drawing/2014/main" id="{0E820F2A-7331-419C-B64D-33C20CE57DF6}"/>
              </a:ext>
            </a:extLst>
          </p:cNvPr>
          <p:cNvSpPr>
            <a:spLocks xmlns:a="http://schemas.openxmlformats.org/drawingml/2006/main" noGrp="1"/>
          </p:cNvSpPr>
          <p:nvPr/>
        </p:nvSpPr>
        <p:spPr>
          <a:xfrm xmlns:a="http://schemas.openxmlformats.org/drawingml/2006/main">
            <a:off x="4352925" y="3276600"/>
            <a:ext cx="34099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Assumed baseline to target</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for ACORD 125 data entry.</a:t>
            </a:r>
          </a:p>
        </p:txBody>
      </p:sp>
      <p:sp>
        <p:nvSpPr>
          <p:cNvPr id="12" name="">
            <a:extLst xmlns:a="http://schemas.openxmlformats.org/drawingml/2006/main">
              <a:ext uri="{FF2B5EF4-FFF2-40B4-BE49-F238E27FC236}">
                <a16:creationId xmlns:a16="http://schemas.microsoft.com/office/drawing/2014/main" id="{13F926F7-B0B3-4C07-8DF6-F4D4C5E696C9}"/>
              </a:ext>
            </a:extLst>
          </p:cNvPr>
          <p:cNvSpPr>
            <a:spLocks xmlns:a="http://schemas.openxmlformats.org/drawingml/2006/main" noGrp="1"/>
          </p:cNvSpPr>
          <p:nvPr/>
        </p:nvSpPr>
        <p:spPr>
          <a:xfrm xmlns:a="http://schemas.openxmlformats.org/drawingml/2006/main">
            <a:off x="4352925" y="4486275"/>
            <a:ext cx="3429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E1A15"/>
                </a:solidFill>
                <a:latin typeface="Arial"/>
                <a:ea typeface="Arial"/>
                <a:cs typeface="Arial"/>
              </a:defRPr>
            </a:pPr>
            <a:r>
              <a:rPr sz="1950" b="0">
                <a:solidFill>
                  <a:srgbClr val="1E1A15"/>
                </a:solidFill>
                <a:latin typeface="Arial"/>
                <a:ea typeface="Arial"/>
                <a:cs typeface="Arial"/>
              </a:rPr>
              <a:t>25 minutes per form</a:t>
            </a:r>
          </a:p>
          <a:p xmlns:a="http://schemas.openxmlformats.org/drawingml/2006/main">
            <a:pPr>
              <a:defRPr sz="1950" b="0">
                <a:solidFill>
                  <a:srgbClr val="1E1A15"/>
                </a:solidFill>
                <a:latin typeface="Arial"/>
                <a:ea typeface="Arial"/>
                <a:cs typeface="Arial"/>
              </a:defRPr>
            </a:pPr>
            <a:r>
              <a:rPr sz="1950" b="0">
                <a:solidFill>
                  <a:srgbClr val="1E1A15"/>
                </a:solidFill>
                <a:latin typeface="Arial"/>
                <a:ea typeface="Arial"/>
                <a:cs typeface="Arial"/>
              </a:rPr>
              <a:t>83.3% potential reduction</a:t>
            </a:r>
          </a:p>
        </p:txBody>
      </p:sp>
      <p:sp>
        <p:nvSpPr>
          <p:cNvPr id="13" name="">
            <a:extLst xmlns:a="http://schemas.openxmlformats.org/drawingml/2006/main">
              <a:ext uri="{FF2B5EF4-FFF2-40B4-BE49-F238E27FC236}">
                <a16:creationId xmlns:a16="http://schemas.microsoft.com/office/drawing/2014/main" id="{557BE6E2-D42A-4F3B-BB9C-0A9083F97497}"/>
              </a:ext>
            </a:extLst>
          </p:cNvPr>
          <p:cNvSpPr>
            <a:spLocks xmlns:a="http://schemas.openxmlformats.org/drawingml/2006/main" noGrp="1"/>
          </p:cNvSpPr>
          <p:nvPr/>
        </p:nvSpPr>
        <p:spPr>
          <a:xfrm xmlns:a="http://schemas.openxmlformats.org/drawingml/2006/main">
            <a:off x="8248650" y="25241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1E1A15"/>
                </a:solidFill>
                <a:latin typeface="Georgia"/>
                <a:ea typeface="Georgia"/>
                <a:cs typeface="Georgia"/>
              </a:defRPr>
            </a:pPr>
            <a:r>
              <a:rPr sz="3150" b="0">
                <a:solidFill>
                  <a:srgbClr val="1E1A15"/>
                </a:solidFill>
                <a:latin typeface="Georgia"/>
                <a:ea typeface="Georgia"/>
                <a:cs typeface="Georgia"/>
              </a:rPr>
              <a:t>ACORD 125</a:t>
            </a:r>
          </a:p>
        </p:txBody>
      </p:sp>
      <p:sp>
        <p:nvSpPr>
          <p:cNvPr id="14" name="">
            <a:extLst xmlns:a="http://schemas.openxmlformats.org/drawingml/2006/main">
              <a:ext uri="{FF2B5EF4-FFF2-40B4-BE49-F238E27FC236}">
                <a16:creationId xmlns:a16="http://schemas.microsoft.com/office/drawing/2014/main" id="{C19B7EE9-97F7-4BEC-844F-3441B0B5B3E4}"/>
              </a:ext>
            </a:extLst>
          </p:cNvPr>
          <p:cNvSpPr>
            <a:spLocks xmlns:a="http://schemas.openxmlformats.org/drawingml/2006/main" noGrp="1"/>
          </p:cNvSpPr>
          <p:nvPr/>
        </p:nvSpPr>
        <p:spPr>
          <a:xfrm xmlns:a="http://schemas.openxmlformats.org/drawingml/2006/main">
            <a:off x="8248650" y="3276600"/>
            <a:ext cx="33718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One form edition first.</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Generate an editable draft with sources and unresolved answers for human review.</a:t>
            </a:r>
          </a:p>
        </p:txBody>
      </p:sp>
      <p:sp>
        <p:nvSpPr>
          <p:cNvPr id="15" name="">
            <a:extLst xmlns:a="http://schemas.openxmlformats.org/drawingml/2006/main">
              <a:ext uri="{FF2B5EF4-FFF2-40B4-BE49-F238E27FC236}">
                <a16:creationId xmlns:a16="http://schemas.microsoft.com/office/drawing/2014/main" id="{2C90AF82-B0E0-41BF-B56F-818A34C47E76}"/>
              </a:ext>
            </a:extLst>
          </p:cNvPr>
          <p:cNvSpPr>
            <a:spLocks xmlns:a="http://schemas.openxmlformats.org/drawingml/2006/main" noGrp="1"/>
          </p:cNvSpPr>
          <p:nvPr/>
        </p:nvSpPr>
        <p:spPr>
          <a:xfrm xmlns:a="http://schemas.openxmlformats.org/drawingml/2006/main">
            <a:off x="457200" y="5791200"/>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E1A15"/>
                </a:solidFill>
                <a:latin typeface="Georgia"/>
                <a:ea typeface="Georgia"/>
                <a:cs typeface="Georgia"/>
              </a:defRPr>
            </a:pPr>
            <a:r>
              <a:rPr sz="1800" b="0">
                <a:solidFill>
                  <a:srgbClr val="1E1A15"/>
                </a:solidFill>
                <a:latin typeface="Georgia"/>
                <a:ea typeface="Georgia"/>
                <a:cs typeface="Georgia"/>
              </a:rPr>
              <a:t>Pilot measurement: entry time, human review time, corrections and field accuracy</a:t>
            </a:r>
          </a:p>
        </p:txBody>
      </p:sp>
    </p:spTree>
    <p:extLst>
      <p:ext uri="{BB962C8B-B14F-4D97-AF65-F5344CB8AC3E}">
        <p14:creationId xmlns:p14="http://schemas.microsoft.com/office/powerpoint/2010/main" val="1485390355"/>
      </p:ext>
    </p:extLst>
  </p:cSld>
</p:sld>
</file>

<file path=ppt/slides/slide4.xml><?xml version="1.0" encoding="utf-8"?>
<p:sld xmlns:p="http://schemas.openxmlformats.org/presentationml/2006/main">
  <p:cSld>
    <p:bg>
      <p:bgPr>
        <a:solidFill xmlns:a="http://schemas.openxmlformats.org/drawingml/2006/main">
          <a:srgbClr val="FFFC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B02164-6024-4324-8208-2DB02CE9F9B8}"/>
              </a:ext>
            </a:extLst>
          </p:cNvPr>
          <p:cNvSpPr>
            <a:spLocks xmlns:a="http://schemas.openxmlformats.org/drawingml/2006/main" noGrp="1"/>
          </p:cNvSpPr>
          <p:nvPr/>
        </p:nvSpPr>
        <p:spPr>
          <a:xfrm xmlns:a="http://schemas.openxmlformats.org/drawingml/2006/main">
            <a:off x="457200" y="2667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95611"/>
                </a:solidFill>
                <a:latin typeface="Arial"/>
                <a:ea typeface="Arial"/>
                <a:cs typeface="Arial"/>
              </a:defRPr>
            </a:pPr>
            <a:r>
              <a:rPr sz="1125" b="1">
                <a:solidFill>
                  <a:srgbClr val="D95611"/>
                </a:solidFill>
                <a:latin typeface="Arial"/>
                <a:ea typeface="Arial"/>
                <a:cs typeface="Arial"/>
              </a:rPr>
              <a:t>V1 PRODUCT</a:t>
            </a:r>
          </a:p>
        </p:txBody>
      </p:sp>
      <p:sp>
        <p:nvSpPr>
          <p:cNvPr id="2" name="">
            <a:extLst xmlns:a="http://schemas.openxmlformats.org/drawingml/2006/main">
              <a:ext uri="{FF2B5EF4-FFF2-40B4-BE49-F238E27FC236}">
                <a16:creationId xmlns:a16="http://schemas.microsoft.com/office/drawing/2014/main" id="{B47136FB-9DA3-49EC-9E55-1E5C8BD53681}"/>
              </a:ext>
            </a:extLst>
          </p:cNvPr>
          <p:cNvSpPr>
            <a:spLocks xmlns:a="http://schemas.openxmlformats.org/drawingml/2006/main" noGrp="1"/>
          </p:cNvSpPr>
          <p:nvPr/>
        </p:nvSpPr>
        <p:spPr>
          <a:xfrm xmlns:a="http://schemas.openxmlformats.org/drawingml/2006/main">
            <a:off x="11239500" y="2667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E1A15"/>
                </a:solidFill>
                <a:latin typeface="Arial"/>
                <a:ea typeface="Arial"/>
                <a:cs typeface="Arial"/>
              </a:defRPr>
            </a:pPr>
            <a:r>
              <a:rPr sz="1200" b="0">
                <a:solidFill>
                  <a:srgbClr val="1E1A1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E53CA10B-F3D1-445A-96BC-BB239654D557}"/>
              </a:ext>
            </a:extLst>
          </p:cNvPr>
          <p:cNvSpPr>
            <a:spLocks xmlns:a="http://schemas.openxmlformats.org/drawingml/2006/main" noGrp="1"/>
          </p:cNvSpPr>
          <p:nvPr/>
        </p:nvSpPr>
        <p:spPr>
          <a:xfrm xmlns:a="http://schemas.openxmlformats.org/drawingml/2006/main">
            <a:off x="457200" y="723900"/>
            <a:ext cx="1123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0">
                <a:solidFill>
                  <a:srgbClr val="1E1A15"/>
                </a:solidFill>
                <a:latin typeface="Georgia"/>
                <a:ea typeface="Georgia"/>
                <a:cs typeface="Georgia"/>
              </a:defRPr>
            </a:pPr>
            <a:r>
              <a:rPr sz="4275" b="0">
                <a:solidFill>
                  <a:srgbClr val="1E1A15"/>
                </a:solidFill>
                <a:latin typeface="Georgia"/>
                <a:ea typeface="Georgia"/>
                <a:cs typeface="Georgia"/>
              </a:rPr>
              <a:t>MVP Scope</a:t>
            </a:r>
          </a:p>
        </p:txBody>
      </p:sp>
      <p:sp>
        <p:nvSpPr>
          <p:cNvPr id="4" name="">
            <a:extLst xmlns:a="http://schemas.openxmlformats.org/drawingml/2006/main">
              <a:ext uri="{FF2B5EF4-FFF2-40B4-BE49-F238E27FC236}">
                <a16:creationId xmlns:a16="http://schemas.microsoft.com/office/drawing/2014/main" id="{25E6634F-B0F8-41C9-AD53-F3A9C109C3DE}"/>
              </a:ext>
            </a:extLst>
          </p:cNvPr>
          <p:cNvSpPr>
            <a:spLocks xmlns:a="http://schemas.openxmlformats.org/drawingml/2006/main" noGrp="1"/>
          </p:cNvSpPr>
          <p:nvPr/>
        </p:nvSpPr>
        <p:spPr>
          <a:xfrm xmlns:a="http://schemas.openxmlformats.org/drawingml/2006/main">
            <a:off x="457200" y="641985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E1A15"/>
                </a:solidFill>
                <a:latin typeface="Arial"/>
                <a:ea typeface="Arial"/>
                <a:cs typeface="Arial"/>
              </a:defRPr>
            </a:pPr>
            <a:r>
              <a:rPr sz="975" b="0">
                <a:solidFill>
                  <a:srgbClr val="1E1A15"/>
                </a:solidFill>
                <a:latin typeface="Arial"/>
                <a:ea typeface="Arial"/>
                <a:cs typeface="Arial"/>
              </a:rPr>
              <a:t>Source: README.md and skills/acord-form-filler/SKILL.md. Outputs remain unsigned drafts for human review.</a:t>
            </a:r>
          </a:p>
        </p:txBody>
      </p:sp>
      <p:sp>
        <p:nvSpPr>
          <p:cNvPr id="5" name="">
            <a:extLst xmlns:a="http://schemas.openxmlformats.org/drawingml/2006/main">
              <a:ext uri="{FF2B5EF4-FFF2-40B4-BE49-F238E27FC236}">
                <a16:creationId xmlns:a16="http://schemas.microsoft.com/office/drawing/2014/main" id="{7DED51E7-6659-4F18-B33A-C7D7268C0E68}"/>
              </a:ext>
            </a:extLst>
          </p:cNvPr>
          <p:cNvSpPr>
            <a:spLocks xmlns:a="http://schemas.openxmlformats.org/drawingml/2006/main" noGrp="1"/>
          </p:cNvSpPr>
          <p:nvPr/>
        </p:nvSpPr>
        <p:spPr>
          <a:xfrm xmlns:a="http://schemas.openxmlformats.org/drawingml/2006/main">
            <a:off x="457200" y="1724025"/>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E1A15"/>
                </a:solidFill>
                <a:latin typeface="Georgia"/>
                <a:ea typeface="Georgia"/>
                <a:cs typeface="Georgia"/>
              </a:defRPr>
            </a:pPr>
            <a:r>
              <a:rPr sz="2475" b="0">
                <a:solidFill>
                  <a:srgbClr val="1E1A15"/>
                </a:solidFill>
                <a:latin typeface="Georgia"/>
                <a:ea typeface="Georgia"/>
                <a:cs typeface="Georgia"/>
              </a:rPr>
              <a:t>Claude / Codex skill with Python tools</a:t>
            </a:r>
          </a:p>
        </p:txBody>
      </p:sp>
      <p:sp>
        <p:nvSpPr>
          <p:cNvPr id="6" name="">
            <a:extLst xmlns:a="http://schemas.openxmlformats.org/drawingml/2006/main">
              <a:ext uri="{FF2B5EF4-FFF2-40B4-BE49-F238E27FC236}">
                <a16:creationId xmlns:a16="http://schemas.microsoft.com/office/drawing/2014/main" id="{8E0E03B5-351A-407F-924F-EF1C1319642F}"/>
              </a:ext>
            </a:extLst>
          </p:cNvPr>
          <p:cNvSpPr>
            <a:spLocks xmlns:a="http://schemas.openxmlformats.org/drawingml/2006/main" noGrp="1"/>
          </p:cNvSpPr>
          <p:nvPr/>
        </p:nvSpPr>
        <p:spPr>
          <a:xfrm xmlns:a="http://schemas.openxmlformats.org/drawingml/2006/main">
            <a:off x="457200" y="22955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One account per run. ACORD 125, edition 2016/03.</a:t>
            </a:r>
          </a:p>
        </p:txBody>
      </p:sp>
      <p:sp>
        <p:nvSpPr>
          <p:cNvPr id="7" name="">
            <a:extLst xmlns:a="http://schemas.openxmlformats.org/drawingml/2006/main">
              <a:ext uri="{FF2B5EF4-FFF2-40B4-BE49-F238E27FC236}">
                <a16:creationId xmlns:a16="http://schemas.microsoft.com/office/drawing/2014/main" id="{63472530-0CE0-4C6E-B4A5-A2E4FCA9BCDE}"/>
              </a:ext>
            </a:extLst>
          </p:cNvPr>
          <p:cNvSpPr>
            <a:spLocks xmlns:a="http://schemas.openxmlformats.org/drawingml/2006/main" noGrp="1"/>
          </p:cNvSpPr>
          <p:nvPr/>
        </p:nvSpPr>
        <p:spPr>
          <a:xfrm xmlns:a="http://schemas.openxmlformats.org/drawingml/2006/main">
            <a:off x="457200" y="300990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D95611"/>
                </a:solidFill>
                <a:latin typeface="Arial"/>
                <a:ea typeface="Arial"/>
                <a:cs typeface="Arial"/>
              </a:defRPr>
            </a:pPr>
            <a:r>
              <a:rPr sz="2100" b="1">
                <a:solidFill>
                  <a:srgbClr val="D95611"/>
                </a:solidFill>
                <a:latin typeface="Arial"/>
                <a:ea typeface="Arial"/>
                <a:cs typeface="Arial"/>
              </a:rPr>
              <a:t>Included in v1</a:t>
            </a:r>
          </a:p>
        </p:txBody>
      </p:sp>
      <p:sp>
        <p:nvSpPr>
          <p:cNvPr id="8" name="">
            <a:extLst xmlns:a="http://schemas.openxmlformats.org/drawingml/2006/main">
              <a:ext uri="{FF2B5EF4-FFF2-40B4-BE49-F238E27FC236}">
                <a16:creationId xmlns:a16="http://schemas.microsoft.com/office/drawing/2014/main" id="{DC12ABB5-525F-4153-8D82-8AEFB98B74C6}"/>
              </a:ext>
            </a:extLst>
          </p:cNvPr>
          <p:cNvSpPr>
            <a:spLocks xmlns:a="http://schemas.openxmlformats.org/drawingml/2006/main" noGrp="1"/>
          </p:cNvSpPr>
          <p:nvPr/>
        </p:nvSpPr>
        <p:spPr>
          <a:xfrm xmlns:a="http://schemas.openxmlformats.org/drawingml/2006/main">
            <a:off x="457200" y="3590925"/>
            <a:ext cx="5343525"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CSV export, insurance PDF and request JSON</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AI field selection with source evidence</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Missing answers and conflicts flagged</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Editable PDF, review report and revisions</a:t>
            </a:r>
          </a:p>
        </p:txBody>
      </p:sp>
      <p:sp>
        <p:nvSpPr>
          <p:cNvPr id="9" name="">
            <a:extLst xmlns:a="http://schemas.openxmlformats.org/drawingml/2006/main">
              <a:ext uri="{FF2B5EF4-FFF2-40B4-BE49-F238E27FC236}">
                <a16:creationId xmlns:a16="http://schemas.microsoft.com/office/drawing/2014/main" id="{DB4AC13E-6250-487B-963E-D46B84ADC698}"/>
              </a:ext>
            </a:extLst>
          </p:cNvPr>
          <p:cNvSpPr>
            <a:spLocks xmlns:a="http://schemas.openxmlformats.org/drawingml/2006/main" noGrp="1"/>
          </p:cNvSpPr>
          <p:nvPr/>
        </p:nvSpPr>
        <p:spPr>
          <a:xfrm xmlns:a="http://schemas.openxmlformats.org/drawingml/2006/main">
            <a:off x="6419850" y="3009900"/>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E1A15"/>
                </a:solidFill>
                <a:latin typeface="Arial"/>
                <a:ea typeface="Arial"/>
                <a:cs typeface="Arial"/>
              </a:defRPr>
            </a:pPr>
            <a:r>
              <a:rPr sz="2100" b="1">
                <a:solidFill>
                  <a:srgbClr val="1E1A15"/>
                </a:solidFill>
                <a:latin typeface="Arial"/>
                <a:ea typeface="Arial"/>
                <a:cs typeface="Arial"/>
              </a:rPr>
              <a:t>Deferred</a:t>
            </a:r>
          </a:p>
        </p:txBody>
      </p:sp>
      <p:sp>
        <p:nvSpPr>
          <p:cNvPr id="10" name="">
            <a:extLst xmlns:a="http://schemas.openxmlformats.org/drawingml/2006/main">
              <a:ext uri="{FF2B5EF4-FFF2-40B4-BE49-F238E27FC236}">
                <a16:creationId xmlns:a16="http://schemas.microsoft.com/office/drawing/2014/main" id="{701684A5-E56E-443E-A1D2-3638279B0495}"/>
              </a:ext>
            </a:extLst>
          </p:cNvPr>
          <p:cNvSpPr>
            <a:spLocks xmlns:a="http://schemas.openxmlformats.org/drawingml/2006/main" noGrp="1"/>
          </p:cNvSpPr>
          <p:nvPr/>
        </p:nvSpPr>
        <p:spPr>
          <a:xfrm xmlns:a="http://schemas.openxmlformats.org/drawingml/2006/main">
            <a:off x="6419850" y="3590925"/>
            <a:ext cx="5314950"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Other ACORD forms and carrier supplements</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OCR and handwriting support</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AMS360 write-back and carrier submission</a:t>
            </a:r>
          </a:p>
          <a:p xmlns:a="http://schemas.openxmlformats.org/drawingml/2006/main">
            <a:r>
              <a:t/>
            </a:r>
          </a:p>
          <a:p xmlns:a="http://schemas.openxmlformats.org/drawingml/2006/main">
            <a:pPr>
              <a:defRPr sz="1875" b="0">
                <a:solidFill>
                  <a:srgbClr val="1E1A15"/>
                </a:solidFill>
                <a:latin typeface="Arial"/>
                <a:ea typeface="Arial"/>
                <a:cs typeface="Arial"/>
              </a:defRPr>
            </a:pPr>
            <a:r>
              <a:rPr sz="1875" b="0">
                <a:solidFill>
                  <a:srgbClr val="1E1A15"/>
                </a:solidFill>
                <a:latin typeface="Arial"/>
                <a:ea typeface="Arial"/>
                <a:cs typeface="Arial"/>
              </a:rPr>
              <a:t>Web app, signatures and production rollout</a:t>
            </a:r>
          </a:p>
        </p:txBody>
      </p:sp>
    </p:spTree>
    <p:extLst>
      <p:ext uri="{BB962C8B-B14F-4D97-AF65-F5344CB8AC3E}">
        <p14:creationId xmlns:p14="http://schemas.microsoft.com/office/powerpoint/2010/main" val="1265240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2026-09-21T10:04:16.1060000Z</dcterms:created>
  <dcterms:modified xsi:type="dcterms:W3CDTF">2026-09-21T10:04:16.1060000Z</dcterms:modified>
</coreProperties>
</file>